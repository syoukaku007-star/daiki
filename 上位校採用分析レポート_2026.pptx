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128016"/>
            <a:ext cx="3502152" cy="6601968"/>
          </a:xfrm>
          <a:prstGeom prst="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IPAGothic"/>
              </a:rPr>
              <a:t>上位校　採用選考分析レポート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227"/>
                </a:solidFill>
                <a:latin typeface="IPAGothic"/>
              </a:rPr>
              <a:t>応募〜最終選考通過　ファネル分析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対象：GMARCH以上（旧帝大・早慶・上智・理科大・ICU・GMARCH・関関同立）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AABB"/>
                </a:solidFill>
                <a:latin typeface="IPAGothic"/>
              </a:rPr>
              <a:t>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IPAGothic"/>
              </a:rPr>
              <a:t>総応募者数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57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IPAGothic"/>
              </a:rPr>
              <a:t>59名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2926080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IPAGothic"/>
              </a:rPr>
              <a:t>内定者数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429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IPAGothic"/>
              </a:rPr>
              <a:t>1名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297679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IPAGothic"/>
              </a:rPr>
              <a:t>辞退者数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800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IPAGothic"/>
              </a:rPr>
              <a:t>28名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669279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サマリー：上位校　選考実績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2026年4月〜6月　募集分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29844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選考ステップ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61872"/>
            <a:ext cx="118872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29844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受験者数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261872"/>
            <a:ext cx="13716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298448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通過数
(通過率)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261872"/>
            <a:ext cx="109728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6904" y="1298448"/>
            <a:ext cx="1005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辞退数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261872"/>
            <a:ext cx="109728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1298448"/>
            <a:ext cx="1005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不合格数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261872"/>
            <a:ext cx="100584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129844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選考中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261872"/>
            <a:ext cx="128016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298448"/>
            <a:ext cx="1188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前段階
未到達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965960"/>
            <a:ext cx="201168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" y="2011679"/>
            <a:ext cx="1938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  <a:latin typeface="IPAGothic"/>
              </a:rPr>
              <a:t>説明会兼面談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1965960"/>
            <a:ext cx="118872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011679"/>
            <a:ext cx="1115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IPAGothic"/>
              </a:rPr>
              <a:t>59名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1965960"/>
            <a:ext cx="137160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011679"/>
            <a:ext cx="12984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AE60"/>
                </a:solidFill>
                <a:latin typeface="IPAGothic"/>
              </a:rPr>
              <a:t>27名
(46%)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965960"/>
            <a:ext cx="109728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2011679"/>
            <a:ext cx="102412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  <a:latin typeface="IPAGothic"/>
              </a:rPr>
              <a:t>18名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1965960"/>
            <a:ext cx="109728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011679"/>
            <a:ext cx="102412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IPAGothic"/>
              </a:rPr>
              <a:t>2名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1965960"/>
            <a:ext cx="100584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011679"/>
            <a:ext cx="932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0D9"/>
                </a:solidFill>
                <a:latin typeface="IPAGothic"/>
              </a:rPr>
              <a:t>12名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1965960"/>
            <a:ext cx="128016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2011679"/>
            <a:ext cx="120700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IPAGothic"/>
              </a:rPr>
              <a:t>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788920"/>
            <a:ext cx="2011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2834639"/>
            <a:ext cx="1938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  <a:latin typeface="IPAGothic"/>
              </a:rPr>
              <a:t>一次選考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2788920"/>
            <a:ext cx="1188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2834639"/>
            <a:ext cx="1115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IPAGothic"/>
              </a:rPr>
              <a:t>27名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2788920"/>
            <a:ext cx="1371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2834639"/>
            <a:ext cx="12984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AE60"/>
                </a:solidFill>
                <a:latin typeface="IPAGothic"/>
              </a:rPr>
              <a:t>11名
(41%)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278892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2834639"/>
            <a:ext cx="102412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  <a:latin typeface="IPAGothic"/>
              </a:rPr>
              <a:t>7名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78892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2834639"/>
            <a:ext cx="102412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IPAGothic"/>
              </a:rPr>
              <a:t>2名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2788920"/>
            <a:ext cx="10058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2834639"/>
            <a:ext cx="932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0D9"/>
                </a:solidFill>
                <a:latin typeface="IPAGothic"/>
              </a:rPr>
              <a:t>7名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2788920"/>
            <a:ext cx="12801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2834639"/>
            <a:ext cx="120700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IPAGothic"/>
              </a:rPr>
              <a:t>32名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611880"/>
            <a:ext cx="201168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59" y="3657600"/>
            <a:ext cx="1938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  <a:latin typeface="IPAGothic"/>
              </a:rPr>
              <a:t>最終選考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3611880"/>
            <a:ext cx="118872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77440" y="3657600"/>
            <a:ext cx="1115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IPAGothic"/>
              </a:rPr>
              <a:t>11名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3611880"/>
            <a:ext cx="137160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3657600"/>
            <a:ext cx="12984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AE60"/>
                </a:solidFill>
                <a:latin typeface="IPAGothic"/>
              </a:rPr>
              <a:t>1名
(9%)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92040" y="3611880"/>
            <a:ext cx="109728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0" y="3657600"/>
            <a:ext cx="102412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  <a:latin typeface="IPAGothic"/>
              </a:rPr>
              <a:t>3名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3611880"/>
            <a:ext cx="109728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3657600"/>
            <a:ext cx="102412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IPAGothic"/>
              </a:rPr>
              <a:t>3名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3611880"/>
            <a:ext cx="100584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0" y="3657600"/>
            <a:ext cx="932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0D9"/>
                </a:solidFill>
                <a:latin typeface="IPAGothic"/>
              </a:rPr>
              <a:t>4名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2440" y="3611880"/>
            <a:ext cx="128016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3657600"/>
            <a:ext cx="1207007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IPAGothic"/>
              </a:rPr>
              <a:t>48名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1911095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2734056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3557015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4379976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4663440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" y="4645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IPAGothic"/>
              </a:rPr>
              <a:t>通過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4663440"/>
            <a:ext cx="201168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7128" y="4645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IPAGothic"/>
              </a:rPr>
              <a:t>辞退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74720" y="4663440"/>
            <a:ext cx="201168" cy="20116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21608" y="4645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IPAGothic"/>
              </a:rPr>
              <a:t>不合格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0" y="466344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76088" y="4645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IPAGothic"/>
              </a:rPr>
              <a:t>選考中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4663440"/>
            <a:ext cx="201168" cy="2011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30568" y="4645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IPAGothic"/>
              </a:rPr>
              <a:t>前段階未到達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010912"/>
            <a:ext cx="11521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0040" y="5010912"/>
            <a:ext cx="82296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510235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IPAGothic"/>
              </a:rPr>
              <a:t>■ 主要インサイト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0352" y="55229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IPAGothic"/>
              </a:rPr>
              <a:t>・ 説明会兼面談での辞退が18名（最大の離脱ポイント）。早期辞退防止が急務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" y="5907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IPAGothic"/>
              </a:rPr>
              <a:t>・ 一次選考では27名中11名通過（41%）。辞退7名・選考中7名が残存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0352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IPAGothic"/>
              </a:rPr>
              <a:t>・ 最終選考は11名受験→通過1名（9%）。辞退3名・選考中4名が残る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選考ステップ別　内訳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各ステップの通過・辞退・不合格・選考中・未到達の内訳</a:t>
            </a:r>
          </a:p>
        </p:txBody>
      </p:sp>
      <p:pic>
        <p:nvPicPr>
          <p:cNvPr id="7" name="Picture 6" descr="funnel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選考ファネル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応募〜最終選考通過までの人数推移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選考ステータス内訳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上位校応募者59名の最終ステータス（大学別）</a:t>
            </a:r>
          </a:p>
        </p:txBody>
      </p:sp>
      <p:pic>
        <p:nvPicPr>
          <p:cNvPr id="7" name="Picture 6" descr="statu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5029200"/>
          </a:xfrm>
          <a:prstGeom prst="rect">
            <a:avLst/>
          </a:prstGeom>
        </p:spPr>
      </p:pic>
      <p:pic>
        <p:nvPicPr>
          <p:cNvPr id="8" name="Picture 7" descr="status_by_un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66751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辞退分析：ステップ別×理由別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どのステップで、何の理由で辞退したか（計28名）</a:t>
            </a:r>
          </a:p>
        </p:txBody>
      </p:sp>
      <p:pic>
        <p:nvPicPr>
          <p:cNvPr id="7" name="Picture 6" descr="withdrawal_by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897880"/>
            <a:ext cx="64008" cy="777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25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IPAGothic"/>
              </a:rPr>
              <a:t>辞退内訳詳細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IPAGothic"/>
              </a:rPr>
              <a:t>　説明会兼面談18名：他社内定・優先4、業界不一致4、音信不通4、未収集・不明5、自己就活1　／　一次選考7名：他社内定・優先3、業界不一致2、給与待遇1、不明1　／　最終選考3名：他社内定・優先2、不明1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大学グループ別　応募者数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上位校59名の大学グループ別内訳</a:t>
            </a:r>
          </a:p>
        </p:txBody>
      </p:sp>
      <p:pic>
        <p:nvPicPr>
          <p:cNvPr id="7" name="Picture 6" descr="grou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99669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大学別　応募者数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上位校14大学の応募者数</a:t>
            </a:r>
          </a:p>
        </p:txBody>
      </p:sp>
      <p:pic>
        <p:nvPicPr>
          <p:cNvPr id="7" name="Picture 6" descr="univ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考察・次のアクション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IPAGothic"/>
              </a:rPr>
              <a:t>上位校採用強化に向けた施策提言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760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5760720" cy="8229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08175"/>
            <a:ext cx="530352" cy="5303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0817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IPA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44475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IPAGothic"/>
              </a:rPr>
              <a:t>説明会兼面談での辞退防止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66543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IPAGothic"/>
              </a:rPr>
              <a:t>最大離脱ポイント（18名辞退）。他社内定・優先4名、音信不通4名が主因。
選考スピード改善・早期フォロー施策・説明会当日のエンゲージメント向上が急務。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61872"/>
            <a:ext cx="5760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61872"/>
            <a:ext cx="5760720" cy="822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408175"/>
            <a:ext cx="530352" cy="5303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0817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IPA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144475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IPAGothic"/>
              </a:rPr>
              <a:t>一次選考の歩留まり向上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66543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IPAGothic"/>
              </a:rPr>
              <a:t>通過率41%。辞退7名のうち他社優先3名・業界不一致2名。
一次選考前のフォロー面談設置や企業理解促進で離脱を抑制する。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95344"/>
            <a:ext cx="5760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95344"/>
            <a:ext cx="5760720" cy="822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41648"/>
            <a:ext cx="530352" cy="5303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IPA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0782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IPAGothic"/>
              </a:rPr>
              <a:t>上位校母集団の拡大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0016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IPAGothic"/>
              </a:rPr>
              <a:t>旧帝大・早慶からの応募が極めて少ない（計1名）。ダイレクトリクルーティング・
学内説明会・OB/OGネットワーク活用で接触機会を増やす。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95344"/>
            <a:ext cx="5760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895344"/>
            <a:ext cx="5760720" cy="822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4041648"/>
            <a:ext cx="530352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0416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IPA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40782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IPAGothic"/>
              </a:rPr>
              <a:t>辞退理由の収集体制強化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00016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IPAGothic"/>
              </a:rPr>
              <a:t>全28名中「未収集・不明」が7名（25%）。辞退申告時に理由を必ず収集する
フロー整備（簡易アンケート・退会時ヒアリング）を導入する。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