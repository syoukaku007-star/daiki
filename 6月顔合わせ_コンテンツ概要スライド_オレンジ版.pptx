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29200"/>
            <a:ext cx="12188952" cy="508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555555"/>
                </a:solidFill>
                <a:latin typeface="Yu Gothic"/>
              </a:rPr>
              <a:t>27新卒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>
                <a:solidFill>
                  <a:srgbClr val="1A1A1A"/>
                </a:solidFill>
                <a:latin typeface="Yu Gothic"/>
              </a:rPr>
              <a:t>内定承諾者 顔合わせ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FF7200"/>
                </a:solidFill>
                <a:latin typeface="Yu Gothic"/>
              </a:rPr>
              <a:t>2026年6月　／　Zoom　／　60分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555555"/>
                </a:solidFill>
                <a:latin typeface="Yu Gothic"/>
              </a:rPr>
              <a:t>参加者：内定承諾者 ＋ 人事担当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今日のゴール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全体：60分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5394960" cy="4389120"/>
          </a:xfrm>
          <a:prstGeom prst="rect">
            <a:avLst/>
          </a:prstGeom>
          <a:solidFill>
            <a:srgbClr val="F4F4F4"/>
          </a:solidFill>
          <a:ln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5394960" cy="713232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7276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</a:rPr>
              <a:t>GOAL  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Yu Gothic"/>
              </a:rPr>
              <a:t>全員の顔と名前を覚える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55555"/>
                </a:solidFill>
                <a:latin typeface="Yu Gothic"/>
              </a:rPr>
              <a:t>→  同期の顔・名前・キャラクターを
　  今日だけでひとつながりにする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508760"/>
            <a:ext cx="5394960" cy="4389120"/>
          </a:xfrm>
          <a:prstGeom prst="rect">
            <a:avLst/>
          </a:prstGeom>
          <a:solidFill>
            <a:srgbClr val="F4F4F4"/>
          </a:solidFill>
          <a:ln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1508760"/>
            <a:ext cx="5394960" cy="713232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57276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</a:rPr>
              <a:t>GOAL  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774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Yu Gothic"/>
              </a:rPr>
              <a:t>今日楽しかった！
と思って画面を閉じる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6576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55555"/>
                </a:solidFill>
                <a:latin typeface="Yu Gothic"/>
              </a:rPr>
              <a:t>→  緊張や不安より
　  「また会いたい」を優先する場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7200"/>
                </a:solidFill>
                <a:latin typeface="Yu Gothic"/>
              </a:rPr>
              <a:t>この 2 つだけ！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今日の流れ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全体：60分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" y="1508760"/>
            <a:ext cx="210312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" y="16184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7200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" y="2167128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1A"/>
                </a:solidFill>
                <a:latin typeface="Yu Gothic"/>
              </a:rPr>
              <a:t>自己紹介
リレー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" y="4800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55555"/>
                </a:solidFill>
                <a:latin typeface="Yu Gothic"/>
              </a:rPr>
              <a:t>〜15分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7576" y="3291840"/>
            <a:ext cx="16093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7200"/>
                </a:solidFill>
                <a:latin typeface="Yu Gothic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38628" y="1508760"/>
            <a:ext cx="2103120" cy="393192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8628" y="16184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8628" y="2167128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Yu Gothic"/>
              </a:rPr>
              <a:t>共通点探し
（グループ）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8628" y="4800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DDBB"/>
                </a:solidFill>
                <a:latin typeface="Yu Gothic"/>
              </a:rPr>
              <a:t>〜30分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1864" y="3291840"/>
            <a:ext cx="16093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7200"/>
                </a:solidFill>
                <a:latin typeface="Yu Gothic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508760"/>
            <a:ext cx="2103120" cy="393192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2916" y="16184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2916" y="2167128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Yu Gothic"/>
              </a:rPr>
              <a:t>共通点発表
（全体）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2916" y="4800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DDBB"/>
                </a:solidFill>
                <a:latin typeface="Yu Gothic"/>
              </a:rPr>
              <a:t>〜50分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6152" y="3291840"/>
            <a:ext cx="16093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7200"/>
                </a:solidFill>
                <a:latin typeface="Yu Gothic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7204" y="1508760"/>
            <a:ext cx="210312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47204" y="16184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7200"/>
                </a:solidFill>
                <a:latin typeface="Yu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7204" y="2167128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1A"/>
                </a:solidFill>
                <a:latin typeface="Yu Gothic"/>
              </a:rPr>
              <a:t>会社説明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7204" y="4800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55555"/>
                </a:solidFill>
                <a:latin typeface="Yu Gothic"/>
              </a:rPr>
              <a:t>〜55分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0440" y="3291840"/>
            <a:ext cx="16093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7200"/>
                </a:solidFill>
                <a:latin typeface="Yu Gothic"/>
              </a:rPr>
              <a:t>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1492" y="1508760"/>
            <a:ext cx="210312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1492" y="16184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7200"/>
                </a:solidFill>
                <a:latin typeface="Yu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1492" y="2167128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1A"/>
                </a:solidFill>
                <a:latin typeface="Yu Gothic"/>
              </a:rPr>
              <a:t>クロージング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1492" y="4800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55555"/>
                </a:solidFill>
                <a:latin typeface="Yu Gothic"/>
              </a:rPr>
              <a:t>〜60分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38628" y="5513832"/>
            <a:ext cx="4407408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38628" y="5605272"/>
            <a:ext cx="44074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7200"/>
                </a:solidFill>
                <a:latin typeface="Yu Gothic"/>
              </a:rPr>
              <a:t>同一ワーク「共通点探し」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①　自己紹介リレー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0〜15分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1920240" cy="12344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話す内容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9079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① 名前・大学
② 最近の推し or マイブーム
③ 一言キャッチフレーズ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16352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154680"/>
            <a:ext cx="1920240" cy="12344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429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ルール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227832"/>
            <a:ext cx="9079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最後に次の人を指名してバトンを渡す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754880"/>
            <a:ext cx="1920240" cy="12344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828032"/>
            <a:ext cx="9079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スタンプ・チャットでリアクション大歓迎！
推しはモノ・人・食べ物・なんでもOK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②　共通点探し　【グループ内】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15〜30分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594360" cy="5943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1848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508760"/>
            <a:ext cx="1054303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15分間でできるだけ多くの共通点を見つける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834640"/>
            <a:ext cx="594360" cy="5943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5292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43200"/>
            <a:ext cx="1054303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"当たり前すぎる共通点"は禁止
（大学生・服を着ている・スマホを持っている… NG！）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594360" cy="5943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8736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977640"/>
            <a:ext cx="1054303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深い共通点ほど価値が高い
（"日本人" ＜ "小学校で習い事を途中で辞めた経験あり"）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594360" cy="5943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2180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212080"/>
            <a:ext cx="1054303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後で全体に発表するので
エピソードつきの面白い共通点を優先してメモ！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③　共通点発表　【全体】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30〜50分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1828800" cy="10058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554480"/>
            <a:ext cx="9079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各グループから自慢の共通点を発表！
面白いもの・意外なもの優先で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7200"/>
                </a:solidFill>
                <a:latin typeface="Yu Gothic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743200"/>
            <a:ext cx="912571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1828800" cy="10058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6440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108960"/>
            <a:ext cx="9079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深掘りトーク
「それって具体的にどういうこと？」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9651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7200"/>
                </a:solidFill>
                <a:latin typeface="Yu Gothic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4297680"/>
            <a:ext cx="912571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828800" cy="10058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1888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663440"/>
            <a:ext cx="9079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全グループ共通ランキング発表
「実は全員に当てはまった共通点は…」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④　会社説明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50〜55分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7200"/>
                </a:solidFill>
                <a:latin typeface="Yu Gothic"/>
              </a:rPr>
              <a:t>覚えて帰ってほしい　3 つのキーワード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" y="2286000"/>
            <a:ext cx="3474720" cy="3429000"/>
          </a:xfrm>
          <a:prstGeom prst="rect">
            <a:avLst/>
          </a:prstGeom>
          <a:solidFill>
            <a:srgbClr val="FFF0E0"/>
          </a:solidFill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3796" y="2286000"/>
            <a:ext cx="3474720" cy="6858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" y="2322576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" y="3108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1A"/>
                </a:solidFill>
                <a:latin typeface="Yu Gothic"/>
              </a:rPr>
              <a:t>業界  NO.1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" y="4297680"/>
            <a:ext cx="3017520" cy="254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44348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Yu Gothic"/>
              </a:rPr>
              <a:t>建設・インフラ特化
業界シェアトップクラス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7116" y="2286000"/>
            <a:ext cx="3474720" cy="3429000"/>
          </a:xfrm>
          <a:prstGeom prst="rect">
            <a:avLst/>
          </a:prstGeom>
          <a:solidFill>
            <a:srgbClr val="FFF0E0"/>
          </a:solidFill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7116" y="2286000"/>
            <a:ext cx="3474720" cy="6858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844" y="2322576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7116" y="3108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1A"/>
                </a:solidFill>
                <a:latin typeface="Yu Gothic"/>
              </a:rPr>
              <a:t>本社勤め・選ぶ側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5716" y="4297680"/>
            <a:ext cx="3017520" cy="254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7116" y="44348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Yu Gothic"/>
              </a:rPr>
              <a:t>コーディネーター職
スーツで本社出社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0436" y="2286000"/>
            <a:ext cx="3474720" cy="3429000"/>
          </a:xfrm>
          <a:prstGeom prst="rect">
            <a:avLst/>
          </a:prstGeom>
          <a:solidFill>
            <a:srgbClr val="FFF0E0"/>
          </a:solidFill>
          <a:ln w="317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0436" y="2286000"/>
            <a:ext cx="3474720" cy="6858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0164" y="2322576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0436" y="3108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1A"/>
                </a:solidFill>
                <a:latin typeface="Yu Gothic"/>
              </a:rPr>
              <a:t>大手グループ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89036" y="4297680"/>
            <a:ext cx="3017520" cy="254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0436" y="44348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Yu Gothic"/>
              </a:rPr>
              <a:t>安定した
バックアップ体制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9788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7200"/>
                </a:solidFill>
                <a:latin typeface="Yu Gothic"/>
              </a:rPr>
              <a:t>友達や親御さんに聞かれたらこの 3 つを話すだけ！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25880"/>
            <a:ext cx="12188952" cy="381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92628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Yu Gothic"/>
              </a:rPr>
              <a:t>⑤　クロージング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9628632" y="164592"/>
            <a:ext cx="2194560" cy="566928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74352" y="2011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55〜60分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2103120" cy="1143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01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次回日程の共有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00200"/>
            <a:ext cx="89885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次回：〇月〇日（対面）
スケジュールに入れてください！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24912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2103120" cy="1143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558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アンケート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154680"/>
            <a:ext cx="89885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チャットのURLから
1分で回答できます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79392"/>
            <a:ext cx="11503152" cy="127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663440"/>
            <a:ext cx="2103120" cy="11430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9103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</a:rPr>
              <a:t>連絡先の共有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709160"/>
            <a:ext cx="89885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A1A1A"/>
                </a:solidFill>
                <a:latin typeface="Yu Gothic"/>
              </a:rPr>
              <a:t>何かあれば遠慮なく
いつでも連絡してください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7200"/>
                </a:solidFill>
                <a:latin typeface="Yu Gothic"/>
              </a:rPr>
              <a:t>今日はありがとうございました！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