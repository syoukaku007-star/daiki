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06340"/>
            <a:ext cx="12193200" cy="1851660"/>
          </a:xfrm>
          <a:prstGeom prst="rect">
            <a:avLst/>
          </a:prstGeom>
          <a:solidFill>
            <a:srgbClr val="276C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1080000"/>
            <a:ext cx="107532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IPAゴシック"/>
              </a:rPr>
              <a:t>説明会改善 効果検証レポート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2160000"/>
            <a:ext cx="1075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>
                <a:solidFill>
                  <a:srgbClr val="CCDDFF"/>
                </a:solidFill>
                <a:latin typeface="IPAゴシック"/>
              </a:rPr>
              <a:t>【27新卒】営業職　担当者・内容変更の前後比較（上位校限定）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2700000"/>
            <a:ext cx="107532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9BBFF"/>
                </a:solidFill>
                <a:latin typeface="IPAゴシック"/>
              </a:rPr>
              <a:t>対象：GMARCH以上（旧帝大・早慶・上智理科ICU・GMARCH・関関同立）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3168000"/>
            <a:ext cx="107532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ACCFF"/>
                </a:solidFill>
                <a:latin typeface="IPAゴシック"/>
              </a:rPr>
              <a:t>変更前：2026年1月〜3月  ／  変更後：2026年4月〜現在　　集計日：2026年7月2日</a:t>
            </a:r>
          </a:p>
        </p:txBody>
      </p:sp>
      <p:sp>
        <p:nvSpPr>
          <p:cNvPr id="8" name="Rectangle 7"/>
          <p:cNvSpPr/>
          <p:nvPr/>
        </p:nvSpPr>
        <p:spPr>
          <a:xfrm>
            <a:off x="360000" y="3960000"/>
            <a:ext cx="2760300" cy="2268000"/>
          </a:xfrm>
          <a:prstGeom prst="rect">
            <a:avLst/>
          </a:prstGeom>
          <a:solidFill>
            <a:srgbClr val="0D1E45"/>
          </a:solidFill>
          <a:ln w="19050">
            <a:solidFill>
              <a:srgbClr val="276C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4068000"/>
            <a:ext cx="2616301" cy="20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9BBFF"/>
                </a:solidFill>
                <a:latin typeface="IPAゴシック"/>
              </a:rPr>
              <a:t>変更前
上位校応募</a:t>
            </a:r>
          </a:p>
          <a:p>
            <a:pPr algn="ctr"/>
            <a:r>
              <a:rPr sz="3200" b="1">
                <a:solidFill>
                  <a:srgbClr val="FFFFFF"/>
                </a:solidFill>
                <a:latin typeface="IPAゴシック"/>
              </a:rPr>
              <a:t>4名</a:t>
            </a:r>
          </a:p>
          <a:p>
            <a:pPr algn="ctr"/>
            <a:r>
              <a:rPr sz="1100" b="0">
                <a:solidFill>
                  <a:srgbClr val="AAAAAA"/>
                </a:solidFill>
                <a:latin typeface="IPAゴシック"/>
              </a:rPr>
              <a:t>1/1〜3/31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8300" y="3960000"/>
            <a:ext cx="2760300" cy="2268000"/>
          </a:xfrm>
          <a:prstGeom prst="rect">
            <a:avLst/>
          </a:prstGeom>
          <a:solidFill>
            <a:srgbClr val="0D1E45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6300" y="4068000"/>
            <a:ext cx="2616301" cy="20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9BBFF"/>
                </a:solidFill>
                <a:latin typeface="IPAゴシック"/>
              </a:rPr>
              <a:t>変更後
上位校応募</a:t>
            </a:r>
          </a:p>
          <a:p>
            <a:pPr algn="ctr"/>
            <a:r>
              <a:rPr sz="3200" b="1">
                <a:solidFill>
                  <a:srgbClr val="FFFFFF"/>
                </a:solidFill>
                <a:latin typeface="IPAゴシック"/>
              </a:rPr>
              <a:t>54名</a:t>
            </a:r>
          </a:p>
          <a:p>
            <a:pPr algn="ctr"/>
            <a:r>
              <a:rPr sz="1100" b="0">
                <a:solidFill>
                  <a:srgbClr val="AAAAAA"/>
                </a:solidFill>
                <a:latin typeface="IPAゴシック"/>
              </a:rPr>
              <a:t>4/1〜現在（13.5倍）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600" y="3960000"/>
            <a:ext cx="2760300" cy="2268000"/>
          </a:xfrm>
          <a:prstGeom prst="rect">
            <a:avLst/>
          </a:prstGeom>
          <a:solidFill>
            <a:srgbClr val="0D1E45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04600" y="4068000"/>
            <a:ext cx="2616301" cy="20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9BBFF"/>
                </a:solidFill>
                <a:latin typeface="IPAゴシック"/>
              </a:rPr>
              <a:t>変更後
説明会参加率</a:t>
            </a:r>
          </a:p>
          <a:p>
            <a:pPr algn="ctr"/>
            <a:r>
              <a:rPr sz="3200" b="1">
                <a:solidFill>
                  <a:srgbClr val="FFFFFF"/>
                </a:solidFill>
                <a:latin typeface="IPAゴシック"/>
              </a:rPr>
              <a:t>81.5%</a:t>
            </a:r>
          </a:p>
          <a:p>
            <a:pPr algn="ctr"/>
            <a:r>
              <a:rPr sz="1100" b="0">
                <a:solidFill>
                  <a:srgbClr val="AAAAAA"/>
                </a:solidFill>
                <a:latin typeface="IPAゴシック"/>
              </a:rPr>
              <a:t>44/54名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4900" y="3960000"/>
            <a:ext cx="2760300" cy="2268000"/>
          </a:xfrm>
          <a:prstGeom prst="rect">
            <a:avLst/>
          </a:prstGeom>
          <a:solidFill>
            <a:srgbClr val="0D1E45"/>
          </a:solidFill>
          <a:ln w="1905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2900" y="4068000"/>
            <a:ext cx="2616301" cy="20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9BBFF"/>
                </a:solidFill>
                <a:latin typeface="IPAゴシック"/>
              </a:rPr>
              <a:t>変更後
説明会通過率</a:t>
            </a:r>
          </a:p>
          <a:p>
            <a:pPr algn="ctr"/>
            <a:r>
              <a:rPr sz="3200" b="1">
                <a:solidFill>
                  <a:srgbClr val="FFFFFF"/>
                </a:solidFill>
                <a:latin typeface="IPAゴシック"/>
              </a:rPr>
              <a:t>56.8%</a:t>
            </a:r>
          </a:p>
          <a:p>
            <a:pPr algn="ctr"/>
            <a:r>
              <a:rPr sz="1100" b="0">
                <a:solidFill>
                  <a:srgbClr val="AAAAAA"/>
                </a:solidFill>
                <a:latin typeface="IPAゴシック"/>
              </a:rPr>
              <a:t>25/44名 参加者中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0"/>
            <a:ext cx="11833200" cy="79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IPAゴシック"/>
              </a:rPr>
              <a:t>説明会　変更概要（Before / After）　上位校限定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936000"/>
            <a:ext cx="5754600" cy="5778000"/>
          </a:xfrm>
          <a:prstGeom prst="rect">
            <a:avLst/>
          </a:prstGeom>
          <a:solidFill>
            <a:srgbClr val="E8F0FF"/>
          </a:solidFill>
          <a:ln w="25400">
            <a:solidFill>
              <a:srgbClr val="276C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0000" y="936000"/>
            <a:ext cx="5754600" cy="648000"/>
          </a:xfrm>
          <a:prstGeom prst="rect">
            <a:avLst/>
          </a:prstGeom>
          <a:solidFill>
            <a:srgbClr val="276C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2000" y="972000"/>
            <a:ext cx="56466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IPAゴシック"/>
              </a:rPr>
              <a:t>変更前（1/1〜3/31）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000" y="1692000"/>
            <a:ext cx="233064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6CAE"/>
                </a:solidFill>
                <a:latin typeface="IPAゴシック"/>
              </a:rPr>
              <a:t>期間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9172" y="1692000"/>
            <a:ext cx="320463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564"/>
                </a:solidFill>
                <a:latin typeface="IPAゴシック"/>
              </a:rPr>
              <a:t>2026年1月1日〜3月31日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000" y="2329200"/>
            <a:ext cx="233064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6CAE"/>
                </a:solidFill>
                <a:latin typeface="IPAゴシック"/>
              </a:rPr>
              <a:t>説明会形式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9172" y="2329200"/>
            <a:ext cx="320463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564"/>
                </a:solidFill>
                <a:latin typeface="IPAゴシック"/>
              </a:rPr>
              <a:t>説明会兼WEB選考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2000" y="2966400"/>
            <a:ext cx="233064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6CAE"/>
                </a:solidFill>
                <a:latin typeface="IPAゴシック"/>
              </a:rPr>
              <a:t>上位校応募者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9172" y="2966400"/>
            <a:ext cx="320463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564"/>
                </a:solidFill>
                <a:latin typeface="IPAゴシック"/>
              </a:rPr>
              <a:t>4名（全19名中）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000" y="3603600"/>
            <a:ext cx="233064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6CAE"/>
                </a:solidFill>
                <a:latin typeface="IPAゴシック"/>
              </a:rPr>
              <a:t>大学内訳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9172" y="3603600"/>
            <a:ext cx="320463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564"/>
                </a:solidFill>
                <a:latin typeface="IPAゴシック"/>
              </a:rPr>
              <a:t>関西学院大学×2、明治大学、同志社大学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000" y="4240800"/>
            <a:ext cx="233064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6CAE"/>
                </a:solidFill>
                <a:latin typeface="IPAゴシック"/>
              </a:rPr>
              <a:t>説明会状況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9172" y="4240800"/>
            <a:ext cx="320463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564"/>
                </a:solidFill>
                <a:latin typeface="IPAゴシック"/>
              </a:rPr>
              <a:t>全員 選考中（結果集計中）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2000" y="4878000"/>
            <a:ext cx="233064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6CAE"/>
                </a:solidFill>
                <a:latin typeface="IPAゴシック"/>
              </a:rPr>
              <a:t>辞退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9172" y="4878000"/>
            <a:ext cx="320463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564"/>
                </a:solidFill>
                <a:latin typeface="IPAゴシック"/>
              </a:rPr>
              <a:t>0名（全員参加予定）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000" y="5515200"/>
            <a:ext cx="233064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6CAE"/>
                </a:solidFill>
                <a:latin typeface="IPAゴシック"/>
              </a:rPr>
              <a:t>エージェント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9172" y="5515200"/>
            <a:ext cx="320463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564"/>
                </a:solidFill>
                <a:latin typeface="IPAゴシック"/>
              </a:rPr>
              <a:t>レバレジーズ 4名（100%）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78599" y="936000"/>
            <a:ext cx="5754600" cy="5778000"/>
          </a:xfrm>
          <a:prstGeom prst="rect">
            <a:avLst/>
          </a:prstGeom>
          <a:solidFill>
            <a:srgbClr val="E8FFEE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78599" y="936000"/>
            <a:ext cx="5754600" cy="64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0599" y="972000"/>
            <a:ext cx="56466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IPAゴシック"/>
              </a:rPr>
              <a:t>変更後（4/1〜現在）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0599" y="1692000"/>
            <a:ext cx="233064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  <a:latin typeface="IPAゴシック"/>
              </a:rPr>
              <a:t>期間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7771" y="1692000"/>
            <a:ext cx="320463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564"/>
                </a:solidFill>
                <a:latin typeface="IPAゴシック"/>
              </a:rPr>
              <a:t>2026年4月1日〜現在（6/17集計）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0599" y="2329200"/>
            <a:ext cx="233064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  <a:latin typeface="IPAゴシック"/>
              </a:rPr>
              <a:t>説明会形式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7771" y="2329200"/>
            <a:ext cx="320463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564"/>
                </a:solidFill>
                <a:latin typeface="IPAゴシック"/>
              </a:rPr>
              <a:t>説明会兼WEB選考（担当者・内容刷新）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0599" y="2966400"/>
            <a:ext cx="233064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  <a:latin typeface="IPAゴシック"/>
              </a:rPr>
              <a:t>上位校応募者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7771" y="2966400"/>
            <a:ext cx="320463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564"/>
                </a:solidFill>
                <a:latin typeface="IPAゴシック"/>
              </a:rPr>
              <a:t>54名（全379名中）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0599" y="3603600"/>
            <a:ext cx="233064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  <a:latin typeface="IPAゴシック"/>
              </a:rPr>
              <a:t>大学内訳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7771" y="3603600"/>
            <a:ext cx="320463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564"/>
                </a:solidFill>
                <a:latin typeface="IPAゴシック"/>
              </a:rPr>
              <a:t>関関同立・MARCH中心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0599" y="4240800"/>
            <a:ext cx="233064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  <a:latin typeface="IPAゴシック"/>
              </a:rPr>
              <a:t>説明会参加率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7771" y="4240800"/>
            <a:ext cx="320463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564"/>
                </a:solidFill>
                <a:latin typeface="IPAゴシック"/>
              </a:rPr>
              <a:t>81.5%（44/54名）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50599" y="4878000"/>
            <a:ext cx="233064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  <a:latin typeface="IPAゴシック"/>
              </a:rPr>
              <a:t>説明会通過率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7771" y="4878000"/>
            <a:ext cx="320463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5D5D"/>
                </a:solidFill>
                <a:latin typeface="IPAゴシック"/>
              </a:rPr>
              <a:t>56.8%（25/44名）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0599" y="5515200"/>
            <a:ext cx="233064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  <a:latin typeface="IPAゴシック"/>
              </a:rPr>
              <a:t>エージェント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7771" y="5515200"/>
            <a:ext cx="320463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564"/>
                </a:solidFill>
                <a:latin typeface="IPAゴシック"/>
              </a:rPr>
              <a:t>レバレジーズ 48名（88.9%）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0"/>
            <a:ext cx="11833200" cy="79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IPAゴシック"/>
              </a:rPr>
              <a:t>上位校 応募者数　変更前後比較</a:t>
            </a:r>
          </a:p>
        </p:txBody>
      </p:sp>
      <p:pic>
        <p:nvPicPr>
          <p:cNvPr id="5" name="Picture 4" descr="応募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0" y="936000"/>
            <a:ext cx="9313200" cy="577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0"/>
            <a:ext cx="11833200" cy="79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IPAゴシック"/>
              </a:rPr>
              <a:t>説明会　参加率・通過率　変更前後比較（上位校）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900000"/>
            <a:ext cx="118332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5D5D"/>
                </a:solidFill>
                <a:latin typeface="IPAゴシック"/>
              </a:rPr>
              <a:t>※変更前（1/1-3/31）の上位校4名は説明会 選考中のため参加率・通過率は集計中。変更後（4/1-現在）の54名データで効果を測定。</a:t>
            </a:r>
          </a:p>
        </p:txBody>
      </p:sp>
      <p:pic>
        <p:nvPicPr>
          <p:cNvPr id="6" name="Picture 5" descr="参加通過率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1224000"/>
            <a:ext cx="11833200" cy="541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0"/>
            <a:ext cx="11833200" cy="79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IPAゴシック"/>
              </a:rPr>
              <a:t>変更後（4/1〜現在）選考ファネル詳細　上位校54名</a:t>
            </a:r>
          </a:p>
        </p:txBody>
      </p:sp>
      <p:pic>
        <p:nvPicPr>
          <p:cNvPr id="5" name="Picture 4" descr="ファネル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972000"/>
            <a:ext cx="7315920" cy="56340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37852" y="972000"/>
          <a:ext cx="4511484" cy="56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742"/>
                <a:gridCol w="1127871"/>
                <a:gridCol w="1127871"/>
              </a:tblGrid>
              <a:tr h="70425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ステップ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人数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IPAゴシック"/>
                        </a:rPr>
                        <a:t>率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</a:tr>
              <a:tr h="70425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ゴシック"/>
                        </a:rPr>
                        <a:t>上位校応募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3564"/>
                          </a:solidFill>
                          <a:latin typeface="IPAゴシック"/>
                        </a:rPr>
                        <a:t>54名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ゴシック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425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ゴシック"/>
                        </a:rPr>
                        <a:t>説明会 参加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3564"/>
                          </a:solidFill>
                          <a:latin typeface="IPAゴシック"/>
                        </a:rPr>
                        <a:t>44名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7AE60"/>
                          </a:solidFill>
                          <a:latin typeface="IPAゴシック"/>
                        </a:rPr>
                        <a:t>81.5%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</a:tr>
              <a:tr h="70425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ゴシック"/>
                        </a:rPr>
                        <a:t>説明会 通過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3564"/>
                          </a:solidFill>
                          <a:latin typeface="IPAゴシック"/>
                        </a:rPr>
                        <a:t>25名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7AE60"/>
                          </a:solidFill>
                          <a:latin typeface="IPAゴシック"/>
                        </a:rPr>
                        <a:t>56.8%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425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ゴシック"/>
                        </a:rPr>
                        <a:t>一次選考 通過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3564"/>
                          </a:solidFill>
                          <a:latin typeface="IPAゴシック"/>
                        </a:rPr>
                        <a:t>11名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5A623"/>
                          </a:solidFill>
                          <a:latin typeface="IPAゴシック"/>
                        </a:rPr>
                        <a:t>44.0%</a:t>
                      </a:r>
                    </a:p>
                  </a:txBody>
                  <a:tcPr>
                    <a:solidFill>
                      <a:srgbClr val="ECF0F8"/>
                    </a:solidFill>
                  </a:tcPr>
                </a:tc>
              </a:tr>
              <a:tr h="704250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3564"/>
                          </a:solidFill>
                          <a:latin typeface="IPAゴシック"/>
                        </a:rPr>
                        <a:t>最終選考 通過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3564"/>
                          </a:solidFill>
                          <a:latin typeface="IPAゴシック"/>
                        </a:rPr>
                        <a:t>1名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E85D5D"/>
                          </a:solidFill>
                          <a:latin typeface="IPAゴシック"/>
                        </a:rPr>
                        <a:t>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425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E85D5D"/>
                          </a:solidFill>
                          <a:latin typeface="IPAゴシック"/>
                        </a:rPr>
                        <a:t>辞退合計</a:t>
                      </a:r>
                    </a:p>
                  </a:txBody>
                  <a:tcPr>
                    <a:solidFill>
                      <a:srgbClr val="FF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E85D5D"/>
                          </a:solidFill>
                          <a:latin typeface="IPAゴシック"/>
                        </a:rPr>
                        <a:t>22名</a:t>
                      </a:r>
                    </a:p>
                  </a:txBody>
                  <a:tcPr>
                    <a:solidFill>
                      <a:srgbClr val="FF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E85D5D"/>
                          </a:solidFill>
                          <a:latin typeface="IPAゴシック"/>
                        </a:rPr>
                        <a:t>40.7%</a:t>
                      </a:r>
                    </a:p>
                  </a:txBody>
                  <a:tcPr>
                    <a:solidFill>
                      <a:srgbClr val="FFF0F0"/>
                    </a:solidFill>
                  </a:tcPr>
                </a:tc>
              </a:tr>
              <a:tr h="70425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E85D5D"/>
                          </a:solidFill>
                          <a:latin typeface="IPAゴシック"/>
                        </a:rPr>
                        <a:t>実施前辞退</a:t>
                      </a:r>
                    </a:p>
                  </a:txBody>
                  <a:tcPr>
                    <a:solidFill>
                      <a:srgbClr val="FF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E85D5D"/>
                          </a:solidFill>
                          <a:latin typeface="IPAゴシック"/>
                        </a:rPr>
                        <a:t>10名</a:t>
                      </a:r>
                    </a:p>
                  </a:txBody>
                  <a:tcPr>
                    <a:solidFill>
                      <a:srgbClr val="FF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E85D5D"/>
                          </a:solidFill>
                          <a:latin typeface="IPAゴシック"/>
                        </a:rPr>
                        <a:t>18.5%</a:t>
                      </a:r>
                    </a:p>
                  </a:txBody>
                  <a:tcPr>
                    <a:solidFill>
                      <a:srgbClr val="FF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0"/>
            <a:ext cx="11833200" cy="79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IPAゴシック"/>
              </a:rPr>
              <a:t>辞退タイミング分析　変更前後比較（上位校）</a:t>
            </a:r>
          </a:p>
        </p:txBody>
      </p:sp>
      <p:pic>
        <p:nvPicPr>
          <p:cNvPr id="5" name="Picture 4" descr="辞退比較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936000"/>
            <a:ext cx="7315920" cy="5706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59784" y="1008000"/>
            <a:ext cx="4389552" cy="1800000"/>
          </a:xfrm>
          <a:prstGeom prst="rect">
            <a:avLst/>
          </a:prstGeom>
          <a:solidFill>
            <a:srgbClr val="E8F0FF"/>
          </a:solidFill>
          <a:ln w="25400">
            <a:solidFill>
              <a:srgbClr val="276C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67784" y="1080000"/>
            <a:ext cx="4209552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6CAE"/>
                </a:solidFill>
                <a:latin typeface="IPAゴシック"/>
              </a:rPr>
              <a:t>変更前（1/1-3/31）上位校4名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67784" y="1440000"/>
            <a:ext cx="4209552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3564"/>
                </a:solidFill>
                <a:latin typeface="IPAゴシック"/>
              </a:rPr>
              <a:t>辞退：0名
全員 説明会 選考中
（参加意向は100%）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559784" y="2916000"/>
            <a:ext cx="4389552" cy="1800000"/>
          </a:xfrm>
          <a:prstGeom prst="rect">
            <a:avLst/>
          </a:prstGeom>
          <a:solidFill>
            <a:srgbClr val="E8FFEE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7784" y="2988000"/>
            <a:ext cx="4209552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  <a:latin typeface="IPAゴシック"/>
              </a:rPr>
              <a:t>変更後（4/1-現在）上位校54名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67784" y="3348000"/>
            <a:ext cx="4209552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3564"/>
                </a:solidFill>
                <a:latin typeface="IPAゴシック"/>
              </a:rPr>
              <a:t>実施前辞退：10名（18.5%）
実施後辞退： 6名（11.1%）
合計辞退　：16名（29.6%）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59784" y="4824000"/>
            <a:ext cx="4389552" cy="1800000"/>
          </a:xfrm>
          <a:prstGeom prst="rect">
            <a:avLst/>
          </a:prstGeom>
          <a:solidFill>
            <a:srgbClr val="FFF8E8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67784" y="4896000"/>
            <a:ext cx="4209552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A623"/>
                </a:solidFill>
                <a:latin typeface="IPAゴシック"/>
              </a:rPr>
              <a:t>次のアクション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7784" y="5256000"/>
            <a:ext cx="4209552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3564"/>
                </a:solidFill>
                <a:latin typeface="IPAゴシック"/>
              </a:rPr>
              <a:t>実施前辞退削減：
  応募前の情報提供を強化
実施後辞退削減：
  説明会内容・訴求力の改善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0"/>
            <a:ext cx="11833200" cy="79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IPAゴシック"/>
              </a:rPr>
              <a:t>エージェント別 応募数　変更前後比較（上位校）</a:t>
            </a:r>
          </a:p>
        </p:txBody>
      </p:sp>
      <p:pic>
        <p:nvPicPr>
          <p:cNvPr id="5" name="Picture 4" descr="エージェン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972000"/>
            <a:ext cx="11833200" cy="563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6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0"/>
            <a:ext cx="11833200" cy="79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IPAゴシック"/>
              </a:rPr>
              <a:t>まとめ　と　次のアクション（上位校視点）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44000" y="900000"/>
            <a:ext cx="11905200" cy="1426500"/>
          </a:xfrm>
          <a:prstGeom prst="rect">
            <a:avLst/>
          </a:prstGeom>
          <a:solidFill>
            <a:srgbClr val="E8FFEE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1999" y="972000"/>
            <a:ext cx="3600000" cy="135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7AE60"/>
                </a:solidFill>
                <a:latin typeface="IPAゴシック"/>
              </a:rPr>
              <a:t>応募者数：13.5倍増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0000" y="972000"/>
            <a:ext cx="8053200" cy="135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3564"/>
                </a:solidFill>
                <a:latin typeface="IPAゴシック"/>
              </a:rPr>
              <a:t>変更後（4/1〜）の上位校応募者は54名。変更前（1/1〜3/31）の4名から13.5倍に拡大。
採用母集団の拡大という観点では大きな改善。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44000" y="2362500"/>
            <a:ext cx="11905200" cy="1426500"/>
          </a:xfrm>
          <a:prstGeom prst="rect">
            <a:avLst/>
          </a:prstGeom>
          <a:solidFill>
            <a:srgbClr val="FFF8E8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999" y="2434500"/>
            <a:ext cx="3600000" cy="135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A623"/>
                </a:solidFill>
                <a:latin typeface="IPAゴシック"/>
              </a:rPr>
              <a:t>説明会参加率：81.5%（変更後）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0000" y="2434500"/>
            <a:ext cx="8053200" cy="135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3564"/>
                </a:solidFill>
                <a:latin typeface="IPAゴシック"/>
              </a:rPr>
              <a:t>上位校54名中44名が説明会に参加（81.5%）。
実施前辞退10名（18.5%）の削減が優先課題。説明会前の候補者へのフォローアップ強化を推奨。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000" y="3825000"/>
            <a:ext cx="11905200" cy="1426500"/>
          </a:xfrm>
          <a:prstGeom prst="rect">
            <a:avLst/>
          </a:prstGeom>
          <a:solidFill>
            <a:srgbClr val="ECF0F8"/>
          </a:solidFill>
          <a:ln w="25400">
            <a:solidFill>
              <a:srgbClr val="276C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999" y="3897000"/>
            <a:ext cx="3600000" cy="135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76CAE"/>
                </a:solidFill>
                <a:latin typeface="IPAゴシック"/>
              </a:rPr>
              <a:t>説明会通過率：56.8%（変更後）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0000" y="3897000"/>
            <a:ext cx="8053200" cy="135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3564"/>
                </a:solidFill>
                <a:latin typeface="IPAゴシック"/>
              </a:rPr>
              <a:t>参加44名中25名が通過（56.8%）。参加者の過半数が次のステップへ進む水準。
一次→最終の通過率（44%・9%）の改善も継続課題。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000" y="5287500"/>
            <a:ext cx="11905200" cy="1426500"/>
          </a:xfrm>
          <a:prstGeom prst="rect">
            <a:avLst/>
          </a:prstGeom>
          <a:solidFill>
            <a:srgbClr val="FFF0F0"/>
          </a:solidFill>
          <a:ln w="2540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999" y="5359500"/>
            <a:ext cx="3600000" cy="135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5D5D"/>
                </a:solidFill>
                <a:latin typeface="IPAゴシック"/>
              </a:rPr>
              <a:t>変更前の評価（集計中）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0000" y="5359500"/>
            <a:ext cx="8053200" cy="135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3564"/>
                </a:solidFill>
                <a:latin typeface="IPAゴシック"/>
              </a:rPr>
              <a:t>変更前（1/1-3/31）の上位校4名は現在も説明会 選考中。
結果確定後に参加率・通過率の直接比較が可能。定期的なデータ更新を推奨。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