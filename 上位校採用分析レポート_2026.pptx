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5" r:id="rId16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88952" cy="12801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0" y="128016"/>
            <a:ext cx="3502152" cy="6601968"/>
          </a:xfrm>
          <a:prstGeom prst="rect">
            <a:avLst/>
          </a:prstGeom>
          <a:solidFill>
            <a:srgbClr val="16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IPAGothic"/>
              </a:rPr>
              <a:t>上位校　採用選考分析レポート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9A227"/>
                </a:solidFill>
                <a:latin typeface="IPAGothic"/>
              </a:rPr>
              <a:t>応募〜最終選考通過　ファネル分析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6E8"/>
                </a:solidFill>
                <a:latin typeface="IPAGothic"/>
              </a:rPr>
              <a:t>対象：GMARCH以上（旧帝大・早慶・上智・理科大・ICU・GMARCH・関関同立）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206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9AABB"/>
                </a:solidFill>
                <a:latin typeface="IPAGothic"/>
              </a:rPr>
              <a:t>2026年6月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16459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9A227"/>
                </a:solidFill>
                <a:latin typeface="IPAGothic"/>
              </a:rPr>
              <a:t>総応募者数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0574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IPAGothic"/>
              </a:rPr>
              <a:t>59名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52560" y="2926080"/>
            <a:ext cx="274320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30175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9A227"/>
                </a:solidFill>
                <a:latin typeface="IPAGothic"/>
              </a:rPr>
              <a:t>内定者数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34290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IPAGothic"/>
              </a:rPr>
              <a:t>1名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4297679"/>
            <a:ext cx="274320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0" y="43891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9A227"/>
                </a:solidFill>
                <a:latin typeface="IPAGothic"/>
              </a:rPr>
              <a:t>辞退者数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48006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IPAGothic"/>
              </a:rPr>
              <a:t>28名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5669279"/>
            <a:ext cx="274320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サマリー：上位校　選考実績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6E8"/>
                </a:solidFill>
                <a:latin typeface="IPAGothic"/>
              </a:rPr>
              <a:t>2026年4月〜6月　募集分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2011680" cy="65836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4" y="1298448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PAGothic"/>
              </a:rPr>
              <a:t>選考ステップ</a:t>
            </a:r>
          </a:p>
        </p:txBody>
      </p:sp>
      <p:sp>
        <p:nvSpPr>
          <p:cNvPr id="9" name="Rectangle 8"/>
          <p:cNvSpPr/>
          <p:nvPr/>
        </p:nvSpPr>
        <p:spPr>
          <a:xfrm>
            <a:off x="2331720" y="1261872"/>
            <a:ext cx="1188720" cy="65836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6584" y="1298448"/>
            <a:ext cx="1097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PAGothic"/>
              </a:rPr>
              <a:t>受験者数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1261872"/>
            <a:ext cx="1371600" cy="65836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4" y="129844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PAGothic"/>
              </a:rPr>
              <a:t>通過数
(通過率)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92040" y="1261872"/>
            <a:ext cx="1097280" cy="65836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46904" y="1298448"/>
            <a:ext cx="10058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PAGothic"/>
              </a:rPr>
              <a:t>辞退数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1261872"/>
            <a:ext cx="1097280" cy="65836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44184" y="1298448"/>
            <a:ext cx="10058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PAGothic"/>
              </a:rPr>
              <a:t>不合格数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86600" y="1261872"/>
            <a:ext cx="1005840" cy="65836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41464" y="1298448"/>
            <a:ext cx="914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PAGothic"/>
              </a:rPr>
              <a:t>選考中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1261872"/>
            <a:ext cx="1280160" cy="65836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47304" y="1298448"/>
            <a:ext cx="11887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PAGothic"/>
              </a:rPr>
              <a:t>前段階
未到達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1965960"/>
            <a:ext cx="2011680" cy="777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59" y="2011679"/>
            <a:ext cx="1938528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E3A5F"/>
                </a:solidFill>
                <a:latin typeface="IPAGothic"/>
              </a:rPr>
              <a:t>説明会兼面談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31720" y="1965960"/>
            <a:ext cx="1188720" cy="777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77440" y="2011679"/>
            <a:ext cx="1115568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E3A5F"/>
                </a:solidFill>
                <a:latin typeface="IPAGothic"/>
              </a:rPr>
              <a:t>59名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20440" y="1965960"/>
            <a:ext cx="1371600" cy="777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6160" y="2011679"/>
            <a:ext cx="1298448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7AE60"/>
                </a:solidFill>
                <a:latin typeface="IPAGothic"/>
              </a:rPr>
              <a:t>27名
(46%)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92040" y="1965960"/>
            <a:ext cx="1097280" cy="777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37760" y="2011679"/>
            <a:ext cx="1024127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E74C3C"/>
                </a:solidFill>
                <a:latin typeface="IPAGothic"/>
              </a:rPr>
              <a:t>18名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1965960"/>
            <a:ext cx="1097280" cy="777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35040" y="2011679"/>
            <a:ext cx="1024127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5A5A6"/>
                </a:solidFill>
                <a:latin typeface="IPAGothic"/>
              </a:rPr>
              <a:t>2名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86600" y="1965960"/>
            <a:ext cx="1005840" cy="777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0" y="2011679"/>
            <a:ext cx="932688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A90D9"/>
                </a:solidFill>
                <a:latin typeface="IPAGothic"/>
              </a:rPr>
              <a:t>12名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92440" y="1965960"/>
            <a:ext cx="1280160" cy="777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38160" y="2011679"/>
            <a:ext cx="1207007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99999"/>
                </a:solidFill>
                <a:latin typeface="IPAGothic"/>
              </a:rPr>
              <a:t>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2788920"/>
            <a:ext cx="20116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59" y="2834639"/>
            <a:ext cx="1938528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E3A5F"/>
                </a:solidFill>
                <a:latin typeface="IPAGothic"/>
              </a:rPr>
              <a:t>一次選考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331720" y="2788920"/>
            <a:ext cx="11887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77440" y="2834639"/>
            <a:ext cx="1115568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E3A5F"/>
                </a:solidFill>
                <a:latin typeface="IPAGothic"/>
              </a:rPr>
              <a:t>27名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20440" y="2788920"/>
            <a:ext cx="13716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66160" y="2834639"/>
            <a:ext cx="1298448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7AE60"/>
                </a:solidFill>
                <a:latin typeface="IPAGothic"/>
              </a:rPr>
              <a:t>11名
(41%)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92040" y="2788920"/>
            <a:ext cx="10972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37760" y="2834639"/>
            <a:ext cx="1024127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E74C3C"/>
                </a:solidFill>
                <a:latin typeface="IPAGothic"/>
              </a:rPr>
              <a:t>7名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788920"/>
            <a:ext cx="10972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2834639"/>
            <a:ext cx="1024127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5A5A6"/>
                </a:solidFill>
                <a:latin typeface="IPAGothic"/>
              </a:rPr>
              <a:t>2名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86600" y="2788920"/>
            <a:ext cx="100584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32320" y="2834639"/>
            <a:ext cx="932688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A90D9"/>
                </a:solidFill>
                <a:latin typeface="IPAGothic"/>
              </a:rPr>
              <a:t>7名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92440" y="2788920"/>
            <a:ext cx="128016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38160" y="2834639"/>
            <a:ext cx="1207007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99999"/>
                </a:solidFill>
                <a:latin typeface="IPAGothic"/>
              </a:rPr>
              <a:t>32名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" y="3611880"/>
            <a:ext cx="2011680" cy="777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59" y="3657600"/>
            <a:ext cx="1938528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E3A5F"/>
                </a:solidFill>
                <a:latin typeface="IPAGothic"/>
              </a:rPr>
              <a:t>最終選考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31720" y="3611880"/>
            <a:ext cx="1188720" cy="777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377440" y="3657600"/>
            <a:ext cx="1115568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E3A5F"/>
                </a:solidFill>
                <a:latin typeface="IPAGothic"/>
              </a:rPr>
              <a:t>11名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520440" y="3611880"/>
            <a:ext cx="1371600" cy="777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566160" y="3657600"/>
            <a:ext cx="1298448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7AE60"/>
                </a:solidFill>
                <a:latin typeface="IPAGothic"/>
              </a:rPr>
              <a:t>1名
(9%)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92040" y="3611880"/>
            <a:ext cx="1097280" cy="777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37760" y="3657600"/>
            <a:ext cx="1024127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E74C3C"/>
                </a:solidFill>
                <a:latin typeface="IPAGothic"/>
              </a:rPr>
              <a:t>3名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89320" y="3611880"/>
            <a:ext cx="1097280" cy="777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35040" y="3657600"/>
            <a:ext cx="1024127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5A5A6"/>
                </a:solidFill>
                <a:latin typeface="IPAGothic"/>
              </a:rPr>
              <a:t>3名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86600" y="3611880"/>
            <a:ext cx="1005840" cy="777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32320" y="3657600"/>
            <a:ext cx="932688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A90D9"/>
                </a:solidFill>
                <a:latin typeface="IPAGothic"/>
              </a:rPr>
              <a:t>4名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92440" y="3611880"/>
            <a:ext cx="1280160" cy="777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38160" y="3657600"/>
            <a:ext cx="1207007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99999"/>
                </a:solidFill>
                <a:latin typeface="IPAGothic"/>
              </a:rPr>
              <a:t>48名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20040" y="1911095"/>
            <a:ext cx="11521440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20040" y="2734056"/>
            <a:ext cx="11521440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20040" y="3557015"/>
            <a:ext cx="11521440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20040" y="4379976"/>
            <a:ext cx="11521440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65760" y="4663440"/>
            <a:ext cx="201168" cy="2011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2648" y="46451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A4A4A"/>
                </a:solidFill>
                <a:latin typeface="IPAGothic"/>
              </a:rPr>
              <a:t>通過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920240" y="4663440"/>
            <a:ext cx="201168" cy="2011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167128" y="46451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A4A4A"/>
                </a:solidFill>
                <a:latin typeface="IPAGothic"/>
              </a:rPr>
              <a:t>辞退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474720" y="4663440"/>
            <a:ext cx="201168" cy="201168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721608" y="46451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A4A4A"/>
                </a:solidFill>
                <a:latin typeface="IPAGothic"/>
              </a:rPr>
              <a:t>不合格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029200" y="4663440"/>
            <a:ext cx="201168" cy="201168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76088" y="46451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A4A4A"/>
                </a:solidFill>
                <a:latin typeface="IPAGothic"/>
              </a:rPr>
              <a:t>選考中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83680" y="4663440"/>
            <a:ext cx="201168" cy="201168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830568" y="46451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A4A4A"/>
                </a:solidFill>
                <a:latin typeface="IPAGothic"/>
              </a:rPr>
              <a:t>前段階未到達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5010912"/>
            <a:ext cx="1152144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20040" y="5010912"/>
            <a:ext cx="82296" cy="16459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30352" y="5102352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IPAGothic"/>
              </a:rPr>
              <a:t>■ 主要インサイト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30352" y="552297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4A4A4A"/>
                </a:solidFill>
                <a:latin typeface="IPAGothic"/>
              </a:rPr>
              <a:t>・ 説明会兼面談での辞退が18名（最大の離脱ポイント）。早期辞退防止が急務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30352" y="590702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4A4A4A"/>
                </a:solidFill>
                <a:latin typeface="IPAGothic"/>
              </a:rPr>
              <a:t>・ 一次選考では27名中11名通過（41%）。辞退7名・選考中7名が残存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30352" y="62910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4A4A4A"/>
                </a:solidFill>
                <a:latin typeface="IPAGothic"/>
              </a:rPr>
              <a:t>・ 最終選考は11名受験→通過1名（9%）。辞退3名・選考中4名が残る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選考ステップ別　内訳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6E8"/>
                </a:solidFill>
                <a:latin typeface="IPAGothic"/>
              </a:rPr>
              <a:t>各ステップの通過・辞退・不合格・選考中・未到達の内訳</a:t>
            </a:r>
          </a:p>
        </p:txBody>
      </p:sp>
      <p:pic>
        <p:nvPicPr>
          <p:cNvPr id="7" name="Picture 6" descr="funnel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97280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選考ファネル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6E8"/>
                </a:solidFill>
                <a:latin typeface="IPAGothic"/>
              </a:rPr>
              <a:t>応募〜最終選考通過までの人数推移</a:t>
            </a:r>
          </a:p>
        </p:txBody>
      </p:sp>
      <p:pic>
        <p:nvPicPr>
          <p:cNvPr id="7" name="Picture 6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43000"/>
            <a:ext cx="1033272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選考ステータス内訳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6E8"/>
                </a:solidFill>
                <a:latin typeface="IPAGothic"/>
              </a:rPr>
              <a:t>上位校応募者59名の最終ステータス（大学別）</a:t>
            </a:r>
          </a:p>
        </p:txBody>
      </p:sp>
      <p:pic>
        <p:nvPicPr>
          <p:cNvPr id="7" name="Picture 6" descr="status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029200" cy="5029200"/>
          </a:xfrm>
          <a:prstGeom prst="rect">
            <a:avLst/>
          </a:prstGeom>
        </p:spPr>
      </p:pic>
      <p:pic>
        <p:nvPicPr>
          <p:cNvPr id="8" name="Picture 7" descr="status_by_uni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097280"/>
            <a:ext cx="667512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辞退分析：ステップ別×理由別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6E8"/>
                </a:solidFill>
                <a:latin typeface="IPAGothic"/>
              </a:rPr>
              <a:t>どのステップで、何の理由で辞退したか（計28名）</a:t>
            </a:r>
          </a:p>
        </p:txBody>
      </p:sp>
      <p:pic>
        <p:nvPicPr>
          <p:cNvPr id="7" name="Picture 6" descr="withdrawal_by_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47548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897880"/>
            <a:ext cx="64008" cy="7772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92531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3A5F"/>
                </a:solidFill>
                <a:latin typeface="IPAGothic"/>
              </a:rPr>
              <a:t>辞退内訳詳細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IPAGothic"/>
              </a:rPr>
              <a:t>　説明会兼面談18名：他社内定・優先4、業界不一致4、音信不通4、未収集・不明5、自己就活1　／　一次選考7名：他社内定・優先3、業界不一致2、給与待遇1、不明1　／　最終選考3名：他社内定・優先2、不明1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大学グループ別　応募者数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6E8"/>
                </a:solidFill>
                <a:latin typeface="IPAGothic"/>
              </a:rPr>
              <a:t>上位校59名の大学グループ別内訳</a:t>
            </a:r>
          </a:p>
        </p:txBody>
      </p:sp>
      <p:pic>
        <p:nvPicPr>
          <p:cNvPr id="7" name="Picture 6" descr="group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143000"/>
            <a:ext cx="996696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大学別　応募者数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6E8"/>
                </a:solidFill>
                <a:latin typeface="IPAGothic"/>
              </a:rPr>
              <a:t>上位校14大学の応募者数</a:t>
            </a:r>
          </a:p>
        </p:txBody>
      </p:sp>
      <p:pic>
        <p:nvPicPr>
          <p:cNvPr id="7" name="Picture 6" descr="univ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11430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考察・次のアクション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6E8"/>
                </a:solidFill>
                <a:latin typeface="IPAGothic"/>
              </a:rPr>
              <a:t>上位校採用強化に向けた施策提言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576072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5760720" cy="82296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08175"/>
            <a:ext cx="530352" cy="53035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08175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IPAGothi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444751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IPAGothic"/>
              </a:rPr>
              <a:t>説明会兼面談での辞退防止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066543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IPAGothic"/>
              </a:rPr>
              <a:t>最大離脱ポイント（18名辞退）。他社内定・優先4名、音信不通4名が主因。
選考スピード改善・早期フォロー施策・説明会当日のエンゲージメント向上が急務。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261872"/>
            <a:ext cx="576072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261872"/>
            <a:ext cx="5760720" cy="8229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37960" y="1408175"/>
            <a:ext cx="530352" cy="530352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408175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IPA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2" y="1444751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IPAGothic"/>
              </a:rPr>
              <a:t>一次選考の歩留まり向上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066543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IPAGothic"/>
              </a:rPr>
              <a:t>通過率41%。辞退7名のうち他社優先3名・業界不一致2名。
一次選考前のフォロー面談設置や企業理解促進で離脱を抑制する。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895344"/>
            <a:ext cx="576072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3895344"/>
            <a:ext cx="5760720" cy="8229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041648"/>
            <a:ext cx="530352" cy="5303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041648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IPAGothic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4078224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IPAGothic"/>
              </a:rPr>
              <a:t>上位校母集団の拡大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700016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IPAGothic"/>
              </a:rPr>
              <a:t>旧帝大・早慶からの応募が極めて少ない（計1名）。ダイレクトリクルーティング・
学内説明会・OB/OGネットワーク活用で接触機会を増やす。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895344"/>
            <a:ext cx="576072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3895344"/>
            <a:ext cx="5760720" cy="8229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37960" y="4041648"/>
            <a:ext cx="530352" cy="5303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4041648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IPAGothic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5472" y="4078224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IPAGothic"/>
              </a:rPr>
              <a:t>辞退理由の収集体制強化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700016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IPAGothic"/>
              </a:rPr>
              <a:t>全28名中「未収集・不明」が7名（25%）。辞退申告時に理由を必ず収集する
フロー整備（簡易アンケート・退会時ヒアリング）を導入する。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辞退理由　全件一覧（BY列：辞退理由詳細）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6E8"/>
                </a:solidFill>
                <a:latin typeface="IPAGothic"/>
              </a:rPr>
              <a:t>辞退者28名　ステップ別・理由カテゴリ別・詳細理由</a:t>
            </a:r>
          </a:p>
        </p:txBody>
      </p:sp>
      <p:pic>
        <p:nvPicPr>
          <p:cNvPr id="7" name="Picture 6" descr="withdrawal_detail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78992"/>
            <a:ext cx="11887200" cy="56692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