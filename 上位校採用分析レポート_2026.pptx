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28016"/>
            <a:ext cx="3502152" cy="6601968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対象：GMARCH以上（旧帝大・早慶・上智・理科大・ICU・GMARCH・関関同立）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574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926080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976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8006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6692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91440" cy="1828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応募者数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1E3A5F"/>
                </a:solidFill>
                <a:latin typeface="IPAGothic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上位校全体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188720"/>
            <a:ext cx="9144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説明会兼面談
通過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4A90D9"/>
                </a:solidFill>
                <a:latin typeface="IPAGothic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0056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46%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8776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1188720"/>
            <a:ext cx="91440" cy="1828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一次選考
通過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C9A227"/>
                </a:solidFill>
                <a:latin typeface="IPAGothic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4424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41%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53144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53144" y="1188720"/>
            <a:ext cx="9144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7736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最終選考
通過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27AE60"/>
                </a:solidFill>
                <a:latin typeface="IPAGoth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08792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246120"/>
            <a:ext cx="196596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3264408"/>
            <a:ext cx="187451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選考ステップ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32304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受験者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0" y="3246120"/>
            <a:ext cx="164592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5344" y="3264408"/>
            <a:ext cx="155448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通過
(通過率)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3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辞退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5744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不合格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3246120"/>
            <a:ext cx="150876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8784" y="3264408"/>
            <a:ext cx="141731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選考中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3246120"/>
            <a:ext cx="178308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58984" y="326440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前段階
未到達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931920"/>
            <a:ext cx="19659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59" y="39684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説明会兼面談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7744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23160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59名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0" y="3931920"/>
            <a:ext cx="164592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9684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27名
(46%)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23559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18名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2名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03920" y="3931920"/>
            <a:ext cx="15087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39684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12名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04120" y="3931920"/>
            <a:ext cx="178308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49840" y="39684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846320"/>
            <a:ext cx="1965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59" y="48828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一次選考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7744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23160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27名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4846320"/>
            <a:ext cx="16459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8828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11名
(41%)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59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7名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2名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3920" y="4846320"/>
            <a:ext cx="15087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49640" y="48828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7名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04120" y="4846320"/>
            <a:ext cx="178308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49840" y="48828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32名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760720"/>
            <a:ext cx="19659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59" y="57972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最終選考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7744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423160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11名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40480" y="5760720"/>
            <a:ext cx="164592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86200" y="57972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1名
(9%)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23559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3名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04088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86600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3名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3920" y="5760720"/>
            <a:ext cx="15087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49640" y="57972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4名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04120" y="5760720"/>
            <a:ext cx="178308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49840" y="57972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48名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選考ステップ別　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各ステップの通過・辞退・不合格・選考中・未到達の内訳</a:t>
            </a:r>
          </a:p>
        </p:txBody>
      </p:sp>
      <p:pic>
        <p:nvPicPr>
          <p:cNvPr id="7" name="Picture 6" descr="funnel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103327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上位校応募者59名の最終ステータス（大学別）</a:t>
            </a:r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5029200"/>
          </a:xfrm>
          <a:prstGeom prst="rect">
            <a:avLst/>
          </a:prstGeom>
        </p:spPr>
      </p:pic>
      <p:pic>
        <p:nvPicPr>
          <p:cNvPr id="8" name="Picture 7" descr="status_by_uni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97280"/>
            <a:ext cx="6675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辞退分析：ステップ別×理由別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どのステップで、何の理由で辞退したか（計28名）</a:t>
            </a:r>
          </a:p>
        </p:txBody>
      </p:sp>
      <p:pic>
        <p:nvPicPr>
          <p:cNvPr id="7" name="Picture 6" descr="withdrawal_by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57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5742432"/>
            <a:ext cx="82296" cy="9875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IPAGothic"/>
              </a:rPr>
              <a:t>説明会兼面談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18名辞退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他社優先4・業界不一致4・音信不通4・未収集5・自己就活1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5742432"/>
            <a:ext cx="82296" cy="9875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4A90D9"/>
                </a:solidFill>
                <a:latin typeface="IPAGothic"/>
              </a:rPr>
              <a:t>一次選考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7名辞退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他社優先3・業界不一致2・給与待遇1・未収集1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5742432"/>
            <a:ext cx="82296" cy="9875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IPAGothic"/>
              </a:rPr>
              <a:t>最終選考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3名辞退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6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他社優先2・未収集1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辞退理由　全件一覧（BY列：辞退理由詳細）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辞退者28名　ステップ・大学・詳細理由</a:t>
            </a:r>
          </a:p>
        </p:txBody>
      </p:sp>
      <p:pic>
        <p:nvPicPr>
          <p:cNvPr id="7" name="Picture 6" descr="withdrawal_detail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78992"/>
            <a:ext cx="118872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人材紹介会社別　分析（BZ列）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紹介数・選考ステータス・辞退率</a:t>
            </a:r>
          </a:p>
        </p:txBody>
      </p:sp>
      <p:pic>
        <p:nvPicPr>
          <p:cNvPr id="7" name="Picture 6" descr="agen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892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6035040"/>
            <a:ext cx="82296" cy="685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レバレジーズ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  <a:latin typeface="IPAGothic"/>
              </a:rPr>
              <a:t>48名　辞退率 50%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33472" y="6035040"/>
            <a:ext cx="82296" cy="685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9776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  <a:latin typeface="IPAGothic"/>
              </a:rPr>
              <a:t>5名　辞退率 60%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3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46903" y="6035040"/>
            <a:ext cx="82296" cy="685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キャリアスタート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7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39C12"/>
                </a:solidFill>
                <a:latin typeface="IPAGothic"/>
              </a:rPr>
              <a:t>3名　辞退率 33%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6035040"/>
            <a:ext cx="82296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Hajimari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IPAGothic"/>
              </a:rPr>
              <a:t>2名　辞退率 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73767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73767" y="6035040"/>
            <a:ext cx="82296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ネオキャリア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0072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IPAGothic"/>
              </a:rPr>
              <a:t>1名　辞退率 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748272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※ レバレジーズが全紹介数の81%（48名）を占める主力エージェント。辞退率50%の改善がKPI達成の鍵。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99669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760720" cy="8229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08175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5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444751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説明会兼面談での辞退防止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1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最大離脱ポイント（18名辞退）。他社優先・音信不通が主因。
選考スピード改善・早期フォロー施策が急務。レバレジーズとの連携強化も重要。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61872"/>
            <a:ext cx="5760720" cy="8229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408175"/>
            <a:ext cx="54864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408175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444751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レバレジーズの辞退率改善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84831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主力エージェント（48名紹介）の辞退率が50%と高水準。
エージェントへの求人魅力訴求・フォロー頻度向上・他社内定の早期検知が必要。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95344"/>
            <a:ext cx="5760720" cy="8229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4164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78224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18304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旧帝大・早慶からの応募が極めて少ない（計1名）。複数エージェント活用の
拡充とダイレクトリクルーティングで母集団を強化する。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895344"/>
            <a:ext cx="5760720" cy="8229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4041648"/>
            <a:ext cx="5486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078224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辞退理由収集・データ活用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18304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未収集7名（25%）の解消に向け、辞退時アンケートを整備。
月次でエージェント別・ステップ別データを追跡し、PDCAを回す。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88952" cy="792000"/>
          </a:xfrm>
          <a:prstGeom prst="rect">
            <a:avLst/>
          </a:prstGeom>
          <a:solidFill>
            <a:srgbClr val="1F3564"/>
          </a:solidFill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PAGothic"/>
              </a:rPr>
              <a:t>離脱タイミング分析：実施前 vs 実施後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936000"/>
            <a:ext cx="11468952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1F3564"/>
                </a:solidFill>
                <a:latin typeface="IPAGothic"/>
              </a:rPr>
              <a:t>各選考ステップにおいて、面談・面接の実施前に離脱した人数と、実施後に離脱した人数の内訳</a:t>
            </a:r>
          </a:p>
        </p:txBody>
      </p:sp>
      <p:pic>
        <p:nvPicPr>
          <p:cNvPr id="5" name="Picture 4" descr="withdrawal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368000"/>
            <a:ext cx="7557150" cy="3870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89150.24" y="1368000"/>
          <a:ext cx="4019800" cy="38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9504"/>
                <a:gridCol w="1045148"/>
                <a:gridCol w="1045148"/>
              </a:tblGrid>
              <a:tr h="96750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選考ステップ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実施前
辞退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IPAGothic"/>
                        </a:rPr>
                        <a:t>実施後
辞退</a:t>
                      </a:r>
                    </a:p>
                  </a:txBody>
                  <a:tcPr>
                    <a:solidFill>
                      <a:srgbClr val="1F3564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96750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3564"/>
                          </a:solidFill>
                          <a:latin typeface="IPAGothic"/>
                        </a:rPr>
                        <a:t>説明会兼面談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>
                          <a:solidFill>
                            <a:srgbClr val="E85D5D"/>
                          </a:solidFill>
                          <a:latin typeface="IPAGothic"/>
                        </a:rPr>
                        <a:t>11名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>
                          <a:solidFill>
                            <a:srgbClr val="F5A623"/>
                          </a:solidFill>
                          <a:latin typeface="IPAGothic"/>
                        </a:rPr>
                        <a:t>7名</a:t>
                      </a:r>
                    </a:p>
                  </a:txBody>
                  <a:tcPr>
                    <a:solidFill>
                      <a:srgbClr val="FFF8EE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96750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3564"/>
                          </a:solidFill>
                          <a:latin typeface="IPAGothic"/>
                        </a:rPr>
                        <a:t>一次選考</a:t>
                      </a:r>
                    </a:p>
                  </a:txBody>
                  <a:tcPr>
                    <a:solidFill>
                      <a:srgbClr val="ECF0F8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>
                          <a:solidFill>
                            <a:srgbClr val="E85D5D"/>
                          </a:solidFill>
                          <a:latin typeface="IPAGothic"/>
                        </a:rPr>
                        <a:t>7名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>
                          <a:solidFill>
                            <a:srgbClr val="BBBBBB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  <a:tr h="96750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F3564"/>
                          </a:solidFill>
                          <a:latin typeface="IPAGothic"/>
                        </a:rPr>
                        <a:t>最終選考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>
                          <a:solidFill>
                            <a:srgbClr val="E85D5D"/>
                          </a:solidFill>
                          <a:latin typeface="IPAGothic"/>
                        </a:rPr>
                        <a:t>3名</a:t>
                      </a:r>
                    </a:p>
                  </a:txBody>
                  <a:tcPr>
                    <a:solidFill>
                      <a:srgbClr val="FFF0F0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0">
                          <a:solidFill>
                            <a:srgbClr val="BBBBBB"/>
                          </a:solidFill>
                          <a:latin typeface="IPAGothic"/>
                        </a:rPr>
                        <a:t>0名</a:t>
                      </a:r>
                    </a:p>
                  </a:txBody>
                  <a:tcPr>
                    <a:solidFill>
                      <a:srgbClr val="FFFFFF"/>
                    </a:solidFill>
                    <a:lnL w="12700" cap="flat" cmpd="sng">
                      <a:solidFill>
                        <a:srgbClr val="CCCCCC"/>
                      </a:solidFill>
                    </a:lnL>
                    <a:lnR w="12700" cap="flat" cmpd="sng">
                      <a:solidFill>
                        <a:srgbClr val="CCCCCC"/>
                      </a:solidFill>
                    </a:lnR>
                    <a:lnT w="12700" cap="flat" cmpd="sng">
                      <a:solidFill>
                        <a:srgbClr val="CCCCCC"/>
                      </a:solidFill>
                    </a:lnT>
                    <a:lnB w="12700" cap="flat" cmpd="sng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0000" y="5490000"/>
            <a:ext cx="3774984" cy="122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000" y="5544000"/>
            <a:ext cx="3630985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5D5D"/>
                </a:solidFill>
                <a:latin typeface="IPAGothic"/>
              </a:rPr>
              <a:t>説明会兼面談</a:t>
            </a:r>
          </a:p>
          <a:p>
            <a:pPr algn="ctr"/>
            <a:r>
              <a:rPr sz="1600" b="1">
                <a:solidFill>
                  <a:srgbClr val="1F3564"/>
                </a:solidFill>
                <a:latin typeface="IPAGothic"/>
              </a:rPr>
              <a:t>実施前11名 ／ 実施後7名</a:t>
            </a:r>
          </a:p>
          <a:p>
            <a:pPr algn="l"/>
            <a:r>
              <a:rPr sz="1100" b="0">
                <a:solidFill>
                  <a:srgbClr val="444444"/>
                </a:solidFill>
                <a:latin typeface="IPAGothic"/>
              </a:rPr>
              <a:t>計18名が離脱。実施前離脱が多く、
事前情報提供の強化が有効。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2984" y="5490000"/>
            <a:ext cx="3774984" cy="122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4984" y="5544000"/>
            <a:ext cx="3630985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A623"/>
                </a:solidFill>
                <a:latin typeface="IPAGothic"/>
              </a:rPr>
              <a:t>一次選考</a:t>
            </a:r>
          </a:p>
          <a:p>
            <a:pPr algn="ctr"/>
            <a:r>
              <a:rPr sz="1600" b="1">
                <a:solidFill>
                  <a:srgbClr val="1F3564"/>
                </a:solidFill>
                <a:latin typeface="IPAGothic"/>
              </a:rPr>
              <a:t>実施前7名 ／ 実施後0名</a:t>
            </a:r>
          </a:p>
          <a:p>
            <a:pPr algn="l"/>
            <a:r>
              <a:rPr sz="1100" b="0">
                <a:solidFill>
                  <a:srgbClr val="444444"/>
                </a:solidFill>
                <a:latin typeface="IPAGothic"/>
              </a:rPr>
              <a:t>実施後辞退ゼロ。面接参加者は
辞退せず選考継続。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5968" y="5490000"/>
            <a:ext cx="3774984" cy="122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7968" y="5544000"/>
            <a:ext cx="3630985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7AE60"/>
                </a:solidFill>
                <a:latin typeface="IPAGothic"/>
              </a:rPr>
              <a:t>最終選考</a:t>
            </a:r>
          </a:p>
          <a:p>
            <a:pPr algn="ctr"/>
            <a:r>
              <a:rPr sz="1600" b="1">
                <a:solidFill>
                  <a:srgbClr val="1F3564"/>
                </a:solidFill>
                <a:latin typeface="IPAGothic"/>
              </a:rPr>
              <a:t>実施前3名 ／ 実施後0名</a:t>
            </a:r>
          </a:p>
          <a:p>
            <a:pPr algn="l"/>
            <a:r>
              <a:rPr sz="1100" b="0">
                <a:solidFill>
                  <a:srgbClr val="444444"/>
                </a:solidFill>
                <a:latin typeface="IPAGothic"/>
              </a:rPr>
              <a:t>最終まで残った候補者の
実施後辞退はゼロ。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