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0" y="128016"/>
            <a:ext cx="3502152" cy="6601968"/>
          </a:xfrm>
          <a:prstGeom prst="rect">
            <a:avLst/>
          </a:prstGeom>
          <a:solidFill>
            <a:srgbClr val="1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8229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PAGothic"/>
              </a:rPr>
              <a:t>上位校　採用選考分析レポート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C9A227"/>
                </a:solidFill>
                <a:latin typeface="IPAGothic"/>
              </a:rPr>
              <a:t>応募〜最終選考通過　ファネル分析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対象：GMARCH以上（旧帝大・早慶・上智・理科大・ICU・GMARCH・関関同立）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99AABB"/>
                </a:solidFill>
                <a:latin typeface="IPAGothic"/>
              </a:rPr>
              <a:t>2026年6月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64592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C9A227"/>
                </a:solidFill>
                <a:latin typeface="IPAGothic"/>
              </a:rPr>
              <a:t>総応募者数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057400"/>
            <a:ext cx="3017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IPAGothic"/>
              </a:rPr>
              <a:t>59名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2560" y="2926080"/>
            <a:ext cx="27432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301752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C9A227"/>
                </a:solidFill>
                <a:latin typeface="IPAGothic"/>
              </a:rPr>
              <a:t>内定者数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3429000"/>
            <a:ext cx="3017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IPAGothic"/>
              </a:rPr>
              <a:t>1名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4297679"/>
            <a:ext cx="27432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438912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C9A227"/>
                </a:solidFill>
                <a:latin typeface="IPAGothic"/>
              </a:rPr>
              <a:t>辞退者数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4800600"/>
            <a:ext cx="3017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IPAGothic"/>
              </a:rPr>
              <a:t>28名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5669279"/>
            <a:ext cx="27432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サマリー：上位校　選考実績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2026年4月〜6月　募集分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28346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91440" cy="18288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261872"/>
            <a:ext cx="25603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IPAGothic"/>
              </a:rPr>
              <a:t>応募者数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783080"/>
            <a:ext cx="182880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600" b="1">
                <a:solidFill>
                  <a:srgbClr val="1E3A5F"/>
                </a:solidFill>
                <a:latin typeface="IPAGothic"/>
              </a:rPr>
              <a:t>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5688" y="2258568"/>
            <a:ext cx="640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2788920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7F7F7F"/>
                </a:solidFill>
                <a:latin typeface="IPAGothic"/>
              </a:rPr>
              <a:t>上位校全体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188720"/>
            <a:ext cx="28346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188720"/>
            <a:ext cx="91440" cy="1828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1261872"/>
            <a:ext cx="25603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IPAGothic"/>
              </a:rPr>
              <a:t>説明会兼面談
通過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1783080"/>
            <a:ext cx="182880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600" b="1">
                <a:solidFill>
                  <a:srgbClr val="4A90D9"/>
                </a:solidFill>
                <a:latin typeface="IPAGothic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0056" y="2258568"/>
            <a:ext cx="640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2788920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7F7F7F"/>
                </a:solidFill>
                <a:latin typeface="IPAGothic"/>
              </a:rPr>
              <a:t>通過率 46%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08776" y="1188720"/>
            <a:ext cx="28346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8776" y="1188720"/>
            <a:ext cx="91440" cy="18288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1261872"/>
            <a:ext cx="25603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IPAGothic"/>
              </a:rPr>
              <a:t>一次選考
通過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1783080"/>
            <a:ext cx="182880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600" b="1">
                <a:solidFill>
                  <a:srgbClr val="C9A227"/>
                </a:solidFill>
                <a:latin typeface="IPAGothic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4424" y="2258568"/>
            <a:ext cx="640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788920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7F7F7F"/>
                </a:solidFill>
                <a:latin typeface="IPAGothic"/>
              </a:rPr>
              <a:t>通過率 41%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53144" y="1188720"/>
            <a:ext cx="28346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53144" y="1188720"/>
            <a:ext cx="91440" cy="18288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17736" y="1261872"/>
            <a:ext cx="25603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IPAGothic"/>
              </a:rPr>
              <a:t>最終選考
通過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7736" y="1783080"/>
            <a:ext cx="182880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600" b="1">
                <a:solidFill>
                  <a:srgbClr val="27AE60"/>
                </a:solidFill>
                <a:latin typeface="IPAGothic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08792" y="2258568"/>
            <a:ext cx="640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7736" y="2788920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7F7F7F"/>
                </a:solidFill>
                <a:latin typeface="IPAGothic"/>
              </a:rPr>
              <a:t>通過率 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246120"/>
            <a:ext cx="196596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4904" y="3264408"/>
            <a:ext cx="1874519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</a:rPr>
              <a:t>選考ステップ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40" y="3246120"/>
            <a:ext cx="137160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32304" y="3264408"/>
            <a:ext cx="1280160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</a:rPr>
              <a:t>受験者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0" y="3246120"/>
            <a:ext cx="164592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95344" y="3264408"/>
            <a:ext cx="1554480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</a:rPr>
              <a:t>通過
(通過率)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77840" y="3246120"/>
            <a:ext cx="137160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32703" y="3264408"/>
            <a:ext cx="1280160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</a:rPr>
              <a:t>辞退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40880" y="3246120"/>
            <a:ext cx="137160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95744" y="3264408"/>
            <a:ext cx="1280160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</a:rPr>
              <a:t>不合格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03920" y="3246120"/>
            <a:ext cx="150876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58784" y="3264408"/>
            <a:ext cx="1417319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</a:rPr>
              <a:t>選考中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3246120"/>
            <a:ext cx="1783080" cy="6400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58984" y="3264408"/>
            <a:ext cx="1691639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PAGothic"/>
              </a:rPr>
              <a:t>前段階
未到達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3931920"/>
            <a:ext cx="196596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59" y="3968496"/>
            <a:ext cx="1892807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>
                <a:solidFill>
                  <a:srgbClr val="1E3A5F"/>
                </a:solidFill>
                <a:latin typeface="IPAGothic"/>
              </a:rPr>
              <a:t>説明会兼面談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377440" y="3931920"/>
            <a:ext cx="137160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423160" y="3968496"/>
            <a:ext cx="129844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7AE60"/>
                </a:solidFill>
                <a:latin typeface="IPAGothic"/>
              </a:rPr>
              <a:t>59名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0" y="3931920"/>
            <a:ext cx="164592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86200" y="3968496"/>
            <a:ext cx="157276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E74C3C"/>
                </a:solidFill>
                <a:latin typeface="IPAGothic"/>
              </a:rPr>
              <a:t>27名
(46%)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77840" y="3931920"/>
            <a:ext cx="137160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23559" y="3968496"/>
            <a:ext cx="129844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95A5A6"/>
                </a:solidFill>
                <a:latin typeface="IPAGothic"/>
              </a:rPr>
              <a:t>18名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040880" y="3931920"/>
            <a:ext cx="137160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86600" y="3968496"/>
            <a:ext cx="129844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4A90D9"/>
                </a:solidFill>
                <a:latin typeface="IPAGothic"/>
              </a:rPr>
              <a:t>2名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503920" y="3931920"/>
            <a:ext cx="150876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9640" y="3968496"/>
            <a:ext cx="1435607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7F7F7F"/>
                </a:solidFill>
                <a:latin typeface="IPAGothic"/>
              </a:rPr>
              <a:t>12名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104120" y="3931920"/>
            <a:ext cx="178308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49840" y="3968496"/>
            <a:ext cx="170992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999999"/>
                </a:solidFill>
                <a:latin typeface="IPAGothic"/>
              </a:rPr>
              <a:t>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4846320"/>
            <a:ext cx="196596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59" y="4882896"/>
            <a:ext cx="1892807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>
                <a:solidFill>
                  <a:srgbClr val="1E3A5F"/>
                </a:solidFill>
                <a:latin typeface="IPAGothic"/>
              </a:rPr>
              <a:t>一次選考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77440" y="4846320"/>
            <a:ext cx="137160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23160" y="4882896"/>
            <a:ext cx="129844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7AE60"/>
                </a:solidFill>
                <a:latin typeface="IPAGothic"/>
              </a:rPr>
              <a:t>27名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40480" y="4846320"/>
            <a:ext cx="164592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86200" y="4882896"/>
            <a:ext cx="157276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E74C3C"/>
                </a:solidFill>
                <a:latin typeface="IPAGothic"/>
              </a:rPr>
              <a:t>11名
(41%)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77840" y="4846320"/>
            <a:ext cx="137160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23559" y="4882896"/>
            <a:ext cx="129844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95A5A6"/>
                </a:solidFill>
                <a:latin typeface="IPAGothic"/>
              </a:rPr>
              <a:t>7名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040880" y="4846320"/>
            <a:ext cx="137160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86600" y="4882896"/>
            <a:ext cx="129844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4A90D9"/>
                </a:solidFill>
                <a:latin typeface="IPAGothic"/>
              </a:rPr>
              <a:t>2名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03920" y="4846320"/>
            <a:ext cx="150876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549640" y="4882896"/>
            <a:ext cx="1435607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7F7F7F"/>
                </a:solidFill>
                <a:latin typeface="IPAGothic"/>
              </a:rPr>
              <a:t>7名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104120" y="4846320"/>
            <a:ext cx="178308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49840" y="4882896"/>
            <a:ext cx="170992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999999"/>
                </a:solidFill>
                <a:latin typeface="IPAGothic"/>
              </a:rPr>
              <a:t>32名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0040" y="5760720"/>
            <a:ext cx="196596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59" y="5797296"/>
            <a:ext cx="1892807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>
                <a:solidFill>
                  <a:srgbClr val="1E3A5F"/>
                </a:solidFill>
                <a:latin typeface="IPAGothic"/>
              </a:rPr>
              <a:t>最終選考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377440" y="5760720"/>
            <a:ext cx="137160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423160" y="5797296"/>
            <a:ext cx="129844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7AE60"/>
                </a:solidFill>
                <a:latin typeface="IPAGothic"/>
              </a:rPr>
              <a:t>11名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840480" y="5760720"/>
            <a:ext cx="164592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886200" y="5797296"/>
            <a:ext cx="157276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E74C3C"/>
                </a:solidFill>
                <a:latin typeface="IPAGothic"/>
              </a:rPr>
              <a:t>1名
(9%)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577840" y="5760720"/>
            <a:ext cx="137160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623559" y="5797296"/>
            <a:ext cx="129844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95A5A6"/>
                </a:solidFill>
                <a:latin typeface="IPAGothic"/>
              </a:rPr>
              <a:t>3名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040880" y="5760720"/>
            <a:ext cx="137160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86600" y="5797296"/>
            <a:ext cx="129844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4A90D9"/>
                </a:solidFill>
                <a:latin typeface="IPAGothic"/>
              </a:rPr>
              <a:t>3名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03920" y="5760720"/>
            <a:ext cx="150876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549640" y="5797296"/>
            <a:ext cx="1435607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7F7F7F"/>
                </a:solidFill>
                <a:latin typeface="IPAGothic"/>
              </a:rPr>
              <a:t>4名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04120" y="5760720"/>
            <a:ext cx="1783080" cy="841248"/>
          </a:xfrm>
          <a:prstGeom prst="rect">
            <a:avLst/>
          </a:prstGeom>
          <a:solidFill>
            <a:srgbClr val="EB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149840" y="5797296"/>
            <a:ext cx="1709928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999999"/>
                </a:solidFill>
                <a:latin typeface="IPAGothic"/>
              </a:rPr>
              <a:t>48名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選考ステップ別　内訳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各ステップの通過・辞退・不合格・選考中・未到達の内訳</a:t>
            </a:r>
          </a:p>
        </p:txBody>
      </p:sp>
      <p:pic>
        <p:nvPicPr>
          <p:cNvPr id="7" name="Picture 6" descr="funnel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106424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選考ファネル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応募〜最終選考通過までの人数推移</a:t>
            </a:r>
          </a:p>
        </p:txBody>
      </p:sp>
      <p:pic>
        <p:nvPicPr>
          <p:cNvPr id="7" name="Picture 6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43000"/>
            <a:ext cx="103327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選考ステータス内訳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上位校応募者59名の最終ステータス（大学別）</a:t>
            </a:r>
          </a:p>
        </p:txBody>
      </p:sp>
      <p:pic>
        <p:nvPicPr>
          <p:cNvPr id="7" name="Picture 6" descr="status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029200" cy="5029200"/>
          </a:xfrm>
          <a:prstGeom prst="rect">
            <a:avLst/>
          </a:prstGeom>
        </p:spPr>
      </p:pic>
      <p:pic>
        <p:nvPicPr>
          <p:cNvPr id="8" name="Picture 7" descr="status_by_uni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097280"/>
            <a:ext cx="667512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辞退分析：ステップ別×理由別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どのステップで、何の理由で辞退したか（計28名）</a:t>
            </a:r>
          </a:p>
        </p:txBody>
      </p:sp>
      <p:pic>
        <p:nvPicPr>
          <p:cNvPr id="7" name="Picture 6" descr="withdrawal_by_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4572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5742432"/>
            <a:ext cx="3749039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5742432"/>
            <a:ext cx="82296" cy="9875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5779008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E3A5F"/>
                </a:solidFill>
                <a:latin typeface="IPAGothic"/>
              </a:rPr>
              <a:t>説明会兼面談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79" y="577900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 b="1">
                <a:solidFill>
                  <a:srgbClr val="E74C3C"/>
                </a:solidFill>
                <a:latin typeface="IPAGothic"/>
              </a:rPr>
              <a:t>18名辞退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6190488"/>
            <a:ext cx="3493008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他社優先4・業界不一致4・音信不通4・未収集5・自己就活1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9392" y="5742432"/>
            <a:ext cx="3749039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5742432"/>
            <a:ext cx="82296" cy="987552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3984" y="5779008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4A90D9"/>
                </a:solidFill>
                <a:latin typeface="IPAGothic"/>
              </a:rPr>
              <a:t>一次選考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577900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 b="1">
                <a:solidFill>
                  <a:srgbClr val="E74C3C"/>
                </a:solidFill>
                <a:latin typeface="IPAGothic"/>
              </a:rPr>
              <a:t>7名辞退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6190488"/>
            <a:ext cx="3493008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他社優先3・業界不一致2・給与待遇1・未収集1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4" y="5742432"/>
            <a:ext cx="3749039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4" y="5742432"/>
            <a:ext cx="82296" cy="9875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7616" y="5779008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C9A227"/>
                </a:solidFill>
                <a:latin typeface="IPAGothic"/>
              </a:rPr>
              <a:t>最終選考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6144" y="5779008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 b="1">
                <a:solidFill>
                  <a:srgbClr val="E74C3C"/>
                </a:solidFill>
                <a:latin typeface="IPAGothic"/>
              </a:rPr>
              <a:t>3名辞退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7616" y="6190488"/>
            <a:ext cx="3493008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他社優先2・未収集1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辞退理由　全件一覧（BY列：辞退理由詳細）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辞退者28名　ステップ・大学・詳細理由</a:t>
            </a:r>
          </a:p>
        </p:txBody>
      </p:sp>
      <p:pic>
        <p:nvPicPr>
          <p:cNvPr id="7" name="Picture 6" descr="withdrawal_detail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78992"/>
            <a:ext cx="118872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人材紹介会社別　分析（BZ列）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紹介数・選考ステータス・辞退率</a:t>
            </a:r>
          </a:p>
        </p:txBody>
      </p:sp>
      <p:pic>
        <p:nvPicPr>
          <p:cNvPr id="7" name="Picture 6" descr="agency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48920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20040" y="6035040"/>
            <a:ext cx="2212848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6035040"/>
            <a:ext cx="82296" cy="685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" y="6071616"/>
            <a:ext cx="1920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レバレジーズ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640080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74C3C"/>
                </a:solidFill>
                <a:latin typeface="IPAGothic"/>
              </a:rPr>
              <a:t>48名　辞退率 50%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6035040"/>
            <a:ext cx="2212848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33472" y="6035040"/>
            <a:ext cx="82296" cy="6858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79776" y="6071616"/>
            <a:ext cx="1920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ポート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9776" y="640080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67E22"/>
                </a:solidFill>
                <a:latin typeface="IPAGothic"/>
              </a:rPr>
              <a:t>5名　辞退率 60%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46903" y="6035040"/>
            <a:ext cx="2212848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46903" y="6035040"/>
            <a:ext cx="82296" cy="6858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93207" y="6071616"/>
            <a:ext cx="1920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キャリアスタート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3207" y="640080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39C12"/>
                </a:solidFill>
                <a:latin typeface="IPAGothic"/>
              </a:rPr>
              <a:t>3名　辞退率 33%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0336" y="6035040"/>
            <a:ext cx="2212848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60336" y="6035040"/>
            <a:ext cx="82296" cy="6858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0" y="6071616"/>
            <a:ext cx="1920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Hajimari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640080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  <a:latin typeface="IPAGothic"/>
              </a:rPr>
              <a:t>2名　辞退率 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73767" y="6035040"/>
            <a:ext cx="2212848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73767" y="6035040"/>
            <a:ext cx="82296" cy="6858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20072" y="6071616"/>
            <a:ext cx="19202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ネオキャリア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20072" y="640080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  <a:latin typeface="IPAGothic"/>
              </a:rPr>
              <a:t>1名　辞退率 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748272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※ レバレジーズが全紹介数の81%（48名）を占める主力エージェント。辞退率50%の改善がKPI達成の鍵。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大学グループ別　応募者数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上位校59名の大学グループ別内訳</a:t>
            </a:r>
          </a:p>
        </p:txBody>
      </p:sp>
      <p:pic>
        <p:nvPicPr>
          <p:cNvPr id="7" name="Picture 6" descr="grou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143000"/>
            <a:ext cx="996696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大学別　応募者数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上位校14大学の応募者数</a:t>
            </a:r>
          </a:p>
        </p:txBody>
      </p:sp>
      <p:pic>
        <p:nvPicPr>
          <p:cNvPr id="7" name="Picture 6" descr="univ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11430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PAGothic"/>
              </a:rPr>
              <a:t>考察・次のアクション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10058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CCD6E8"/>
                </a:solidFill>
                <a:latin typeface="IPAGothic"/>
              </a:rPr>
              <a:t>上位校採用強化に向けた施策提言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5760720" cy="8229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08175"/>
            <a:ext cx="548640" cy="5486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08175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IPAGothi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444751"/>
            <a:ext cx="475488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IPAGothic"/>
              </a:rPr>
              <a:t>説明会兼面談での辞退防止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084831"/>
            <a:ext cx="539496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IPAGothic"/>
              </a:rPr>
              <a:t>最大離脱ポイント（18名辞退）。他社優先・音信不通が主因。
選考スピード改善・早期フォロー施策が急務。レバレジーズとの連携強化も重要。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261872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261872"/>
            <a:ext cx="5760720" cy="8229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37960" y="1408175"/>
            <a:ext cx="548640" cy="5486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408175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IPA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1444751"/>
            <a:ext cx="475488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IPAGothic"/>
              </a:rPr>
              <a:t>レバレジーズの辞退率改善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084831"/>
            <a:ext cx="539496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IPAGothic"/>
              </a:rPr>
              <a:t>主力エージェント（48名紹介）の辞退率が50%と高水準。
エージェントへの求人魅力訴求・フォロー頻度向上・他社内定の早期検知が必要。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895344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895344"/>
            <a:ext cx="5760720" cy="8229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041648"/>
            <a:ext cx="548640" cy="5486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04164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IPAGothi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78224"/>
            <a:ext cx="475488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IPAGothic"/>
              </a:rPr>
              <a:t>上位校母集団の拡大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718304"/>
            <a:ext cx="539496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IPAGothic"/>
              </a:rPr>
              <a:t>旧帝大・早慶からの応募が極めて少ない（計1名）。複数エージェント活用の
拡充とダイレクトリクルーティングで母集団を強化する。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895344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3895344"/>
            <a:ext cx="5760720" cy="8229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37960" y="4041648"/>
            <a:ext cx="548640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404164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IPAGothic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078224"/>
            <a:ext cx="475488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IPAGothic"/>
              </a:rPr>
              <a:t>辞退理由収集・データ活用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718304"/>
            <a:ext cx="539496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IPAGothic"/>
              </a:rPr>
              <a:t>未収集7名（25%）の解消に向け、辞退時アンケートを整備。
月次でエージェント別・ステップ別データを追跡し、PDCAを回す。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