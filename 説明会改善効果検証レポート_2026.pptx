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06340"/>
            <a:ext cx="12193200" cy="1851660"/>
          </a:xfrm>
          <a:prstGeom prst="rect">
            <a:avLst/>
          </a:prstGeom>
          <a:solidFill>
            <a:srgbClr val="276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152000"/>
            <a:ext cx="107532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IPAゴシック"/>
              </a:rPr>
              <a:t>説明会改善 効果検証レポート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232000"/>
            <a:ext cx="1075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CDDFF"/>
                </a:solidFill>
                <a:latin typeface="IPAゴシック"/>
              </a:rPr>
              <a:t>【27新卒】営業職　担当者・内容変更の前後比較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75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ACCFF"/>
                </a:solidFill>
                <a:latin typeface="IPAゴシック"/>
              </a:rPr>
              <a:t>変更前：2026年1月〜3月  ／  変更後：2026年4月〜現在　　集計日：2026年7月2日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4031999"/>
            <a:ext cx="2760300" cy="2196000"/>
          </a:xfrm>
          <a:prstGeom prst="rect">
            <a:avLst/>
          </a:prstGeom>
          <a:solidFill>
            <a:srgbClr val="0D1E45"/>
          </a:solidFill>
          <a:ln w="19050">
            <a:solidFill>
              <a:srgbClr val="276C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000" y="4140000"/>
            <a:ext cx="2616301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9BBFF"/>
                </a:solidFill>
                <a:latin typeface="IPAゴシック"/>
              </a:rPr>
              <a:t>変更前 総応募</a:t>
            </a:r>
          </a:p>
          <a:p>
            <a:pPr algn="ctr"/>
            <a:r>
              <a:rPr sz="3000" b="1">
                <a:solidFill>
                  <a:srgbClr val="FFFFFF"/>
                </a:solidFill>
                <a:latin typeface="IPAゴシック"/>
              </a:rPr>
              <a:t>19名</a:t>
            </a:r>
          </a:p>
          <a:p>
            <a:pPr algn="ctr"/>
            <a:r>
              <a:rPr sz="1100" b="0">
                <a:solidFill>
                  <a:srgbClr val="AAAAAA"/>
                </a:solidFill>
                <a:latin typeface="IPAゴシック"/>
              </a:rPr>
              <a:t>1/1〜3/31</a:t>
            </a:r>
          </a:p>
        </p:txBody>
      </p:sp>
      <p:sp>
        <p:nvSpPr>
          <p:cNvPr id="9" name="Rectangle 8"/>
          <p:cNvSpPr/>
          <p:nvPr/>
        </p:nvSpPr>
        <p:spPr>
          <a:xfrm>
            <a:off x="3228300" y="4031999"/>
            <a:ext cx="2760300" cy="2196000"/>
          </a:xfrm>
          <a:prstGeom prst="rect">
            <a:avLst/>
          </a:prstGeom>
          <a:solidFill>
            <a:srgbClr val="0D1E45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6300" y="4140000"/>
            <a:ext cx="2616301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9BBFF"/>
                </a:solidFill>
                <a:latin typeface="IPAゴシック"/>
              </a:rPr>
              <a:t>変更後 総応募</a:t>
            </a:r>
          </a:p>
          <a:p>
            <a:pPr algn="ctr"/>
            <a:r>
              <a:rPr sz="3000" b="1">
                <a:solidFill>
                  <a:srgbClr val="FFFFFF"/>
                </a:solidFill>
                <a:latin typeface="IPAゴシック"/>
              </a:rPr>
              <a:t>379名</a:t>
            </a:r>
          </a:p>
          <a:p>
            <a:pPr algn="ctr"/>
            <a:r>
              <a:rPr sz="1100" b="0">
                <a:solidFill>
                  <a:srgbClr val="AAAAAA"/>
                </a:solidFill>
                <a:latin typeface="IPAゴシック"/>
              </a:rPr>
              <a:t>4/1〜現在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600" y="4031999"/>
            <a:ext cx="2760300" cy="2196000"/>
          </a:xfrm>
          <a:prstGeom prst="rect">
            <a:avLst/>
          </a:prstGeom>
          <a:solidFill>
            <a:srgbClr val="0D1E45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04600" y="4140000"/>
            <a:ext cx="2616301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9BBFF"/>
                </a:solidFill>
                <a:latin typeface="IPAゴシック"/>
              </a:rPr>
              <a:t>変更後 説明会
参加率</a:t>
            </a:r>
          </a:p>
          <a:p>
            <a:pPr algn="ctr"/>
            <a:r>
              <a:rPr sz="3000" b="1">
                <a:solidFill>
                  <a:srgbClr val="FFFFFF"/>
                </a:solidFill>
                <a:latin typeface="IPAゴシック"/>
              </a:rPr>
              <a:t>81.5%</a:t>
            </a:r>
          </a:p>
          <a:p>
            <a:pPr algn="ctr"/>
            <a:r>
              <a:rPr sz="1100" b="0">
                <a:solidFill>
                  <a:srgbClr val="AAAAAA"/>
                </a:solidFill>
                <a:latin typeface="IPAゴシック"/>
              </a:rPr>
              <a:t>44/54名 上位校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4900" y="4031999"/>
            <a:ext cx="2760300" cy="2196000"/>
          </a:xfrm>
          <a:prstGeom prst="rect">
            <a:avLst/>
          </a:prstGeom>
          <a:solidFill>
            <a:srgbClr val="0D1E45"/>
          </a:solidFill>
          <a:ln w="19050">
            <a:solidFill>
              <a:srgbClr val="E8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72900" y="4140000"/>
            <a:ext cx="2616301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9BBFF"/>
                </a:solidFill>
                <a:latin typeface="IPAゴシック"/>
              </a:rPr>
              <a:t>変更後 説明会
通過率</a:t>
            </a:r>
          </a:p>
          <a:p>
            <a:pPr algn="ctr"/>
            <a:r>
              <a:rPr sz="3000" b="1">
                <a:solidFill>
                  <a:srgbClr val="FFFFFF"/>
                </a:solidFill>
                <a:latin typeface="IPAゴシック"/>
              </a:rPr>
              <a:t>56.8%</a:t>
            </a:r>
          </a:p>
          <a:p>
            <a:pPr algn="ctr"/>
            <a:r>
              <a:rPr sz="1100" b="0">
                <a:solidFill>
                  <a:srgbClr val="AAAAAA"/>
                </a:solidFill>
                <a:latin typeface="IPAゴシック"/>
              </a:rPr>
              <a:t>25/44名 参加者中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0"/>
            <a:ext cx="11833200" cy="7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IPAゴシック"/>
              </a:rPr>
              <a:t>説明会　変更概要（Before / After）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0000" y="936000"/>
            <a:ext cx="5754600" cy="5778000"/>
          </a:xfrm>
          <a:prstGeom prst="rect">
            <a:avLst/>
          </a:prstGeom>
          <a:solidFill>
            <a:srgbClr val="E8F0FF"/>
          </a:solidFill>
          <a:ln w="25400">
            <a:solidFill>
              <a:srgbClr val="276C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0000" y="936000"/>
            <a:ext cx="5754600" cy="648000"/>
          </a:xfrm>
          <a:prstGeom prst="rect">
            <a:avLst/>
          </a:prstGeom>
          <a:solidFill>
            <a:srgbClr val="276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999" y="972000"/>
            <a:ext cx="56466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IPAゴシック"/>
              </a:rPr>
              <a:t>変更前（1/1〜3/31）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1692000"/>
            <a:ext cx="2447172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76CAE"/>
                </a:solidFill>
                <a:latin typeface="IPAゴシック"/>
              </a:rPr>
              <a:t>期間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93438" y="1692000"/>
            <a:ext cx="3146364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564"/>
                </a:solidFill>
                <a:latin typeface="IPAゴシック"/>
              </a:rPr>
              <a:t>2026年1月1日〜3月31日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2340000"/>
            <a:ext cx="2447172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76CAE"/>
                </a:solidFill>
                <a:latin typeface="IPAゴシック"/>
              </a:rPr>
              <a:t>説明会形式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93438" y="2340000"/>
            <a:ext cx="3146364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564"/>
                </a:solidFill>
                <a:latin typeface="IPAゴシック"/>
              </a:rPr>
              <a:t>説明会兼WEB選考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2988000"/>
            <a:ext cx="2447172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76CAE"/>
                </a:solidFill>
                <a:latin typeface="IPAゴシック"/>
              </a:rPr>
              <a:t>応募者数（全体）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93438" y="2988000"/>
            <a:ext cx="3146364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564"/>
                </a:solidFill>
                <a:latin typeface="IPAゴシック"/>
              </a:rPr>
              <a:t>19名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00" y="3636000"/>
            <a:ext cx="2447172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76CAE"/>
                </a:solidFill>
                <a:latin typeface="IPAゴシック"/>
              </a:rPr>
              <a:t>上位校応募者数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93438" y="3636000"/>
            <a:ext cx="3146364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564"/>
                </a:solidFill>
                <a:latin typeface="IPAゴシック"/>
              </a:rPr>
              <a:t>4名（21.1%）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00" y="4284000"/>
            <a:ext cx="2447172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76CAE"/>
                </a:solidFill>
                <a:latin typeface="IPAゴシック"/>
              </a:rPr>
              <a:t>説明会状況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3438" y="4284000"/>
            <a:ext cx="3146364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564"/>
                </a:solidFill>
                <a:latin typeface="IPAゴシック"/>
              </a:rPr>
              <a:t>全員 選考中（結果未集計）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00" y="4932000"/>
            <a:ext cx="2447172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76CAE"/>
                </a:solidFill>
                <a:latin typeface="IPAゴシック"/>
              </a:rPr>
              <a:t>辞退者数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93438" y="4932000"/>
            <a:ext cx="3146364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564"/>
                </a:solidFill>
                <a:latin typeface="IPAゴシック"/>
              </a:rPr>
              <a:t>1名（実施前辞退のみ）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00" y="5580000"/>
            <a:ext cx="2447172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76CAE"/>
                </a:solidFill>
                <a:latin typeface="IPAゴシック"/>
              </a:rPr>
              <a:t>エージェント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93438" y="5580000"/>
            <a:ext cx="3146364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564"/>
                </a:solidFill>
                <a:latin typeface="IPAゴシック"/>
              </a:rPr>
              <a:t>レバレジーズ：84.2%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78599" y="936000"/>
            <a:ext cx="5754600" cy="5778000"/>
          </a:xfrm>
          <a:prstGeom prst="rect">
            <a:avLst/>
          </a:prstGeom>
          <a:solidFill>
            <a:srgbClr val="E8FFEE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78599" y="936000"/>
            <a:ext cx="5754600" cy="64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50599" y="972000"/>
            <a:ext cx="56466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IPAゴシック"/>
              </a:rPr>
              <a:t>変更後（4/1〜現在）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50599" y="1692000"/>
            <a:ext cx="2447172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7AE60"/>
                </a:solidFill>
                <a:latin typeface="IPAゴシック"/>
              </a:rPr>
              <a:t>期間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56037" y="1692000"/>
            <a:ext cx="3146364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564"/>
                </a:solidFill>
                <a:latin typeface="IPAゴシック"/>
              </a:rPr>
              <a:t>2026年4月1日〜現在（6/17集計）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50599" y="2340000"/>
            <a:ext cx="2447172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7AE60"/>
                </a:solidFill>
                <a:latin typeface="IPAゴシック"/>
              </a:rPr>
              <a:t>説明会形式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56037" y="2340000"/>
            <a:ext cx="3146364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564"/>
                </a:solidFill>
                <a:latin typeface="IPAゴシック"/>
              </a:rPr>
              <a:t>説明会兼WEB選考（担当者・内容刷新）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50599" y="2988000"/>
            <a:ext cx="2447172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7AE60"/>
                </a:solidFill>
                <a:latin typeface="IPAゴシック"/>
              </a:rPr>
              <a:t>応募者数（全体）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56037" y="2988000"/>
            <a:ext cx="3146364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564"/>
                </a:solidFill>
                <a:latin typeface="IPAゴシック"/>
              </a:rPr>
              <a:t>379名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0599" y="3636000"/>
            <a:ext cx="2447172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7AE60"/>
                </a:solidFill>
                <a:latin typeface="IPAゴシック"/>
              </a:rPr>
              <a:t>上位校応募者数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56037" y="3636000"/>
            <a:ext cx="3146364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564"/>
                </a:solidFill>
                <a:latin typeface="IPAゴシック"/>
              </a:rPr>
              <a:t>54名（14.2%）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50599" y="4284000"/>
            <a:ext cx="2447172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7AE60"/>
                </a:solidFill>
                <a:latin typeface="IPAゴシック"/>
              </a:rPr>
              <a:t>説明会 参加率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56037" y="4284000"/>
            <a:ext cx="3146364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564"/>
                </a:solidFill>
                <a:latin typeface="IPAゴシック"/>
              </a:rPr>
              <a:t>81.5%（44/54名）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50599" y="4932000"/>
            <a:ext cx="2447172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7AE60"/>
                </a:solidFill>
                <a:latin typeface="IPAゴシック"/>
              </a:rPr>
              <a:t>説明会 通過率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56037" y="4932000"/>
            <a:ext cx="3146364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5D5D"/>
                </a:solidFill>
                <a:latin typeface="IPAゴシック"/>
              </a:rPr>
              <a:t>56.8%（25/44名）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50599" y="5580000"/>
            <a:ext cx="2447172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7AE60"/>
                </a:solidFill>
                <a:latin typeface="IPAゴシック"/>
              </a:rPr>
              <a:t>エージェント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56037" y="5580000"/>
            <a:ext cx="3146364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564"/>
                </a:solidFill>
                <a:latin typeface="IPAゴシック"/>
              </a:rPr>
              <a:t>レバレジーズ：84.4%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0"/>
            <a:ext cx="11833200" cy="7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IPAゴシック"/>
              </a:rPr>
              <a:t>応募者数　変更前後比較</a:t>
            </a:r>
          </a:p>
        </p:txBody>
      </p:sp>
      <p:pic>
        <p:nvPicPr>
          <p:cNvPr id="5" name="Picture 4" descr="応募数比較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936000"/>
            <a:ext cx="11473200" cy="577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0"/>
            <a:ext cx="11833200" cy="7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IPAゴシック"/>
              </a:rPr>
              <a:t>説明会　参加率・通過率　変更前後比較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900000"/>
            <a:ext cx="11833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5D5D"/>
                </a:solidFill>
                <a:latin typeface="IPAゴシック"/>
              </a:rPr>
              <a:t>※変更前（1/1-3/31）は説明会 選考中のため参加率・通過率は集計中。変更後（4/1-現在）のデータで効果を測定。</a:t>
            </a:r>
          </a:p>
        </p:txBody>
      </p:sp>
      <p:pic>
        <p:nvPicPr>
          <p:cNvPr id="6" name="Picture 5" descr="参加通過率比較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1224000"/>
            <a:ext cx="11833200" cy="541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0"/>
            <a:ext cx="11833200" cy="7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IPAゴシック"/>
              </a:rPr>
              <a:t>変更後（4/1〜現在）選考ファネル詳細　上位校54名</a:t>
            </a:r>
          </a:p>
        </p:txBody>
      </p:sp>
      <p:pic>
        <p:nvPicPr>
          <p:cNvPr id="5" name="Picture 4" descr="ファネル後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972000"/>
            <a:ext cx="7437852" cy="56340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559784" y="972000"/>
          <a:ext cx="4389552" cy="563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776"/>
                <a:gridCol w="1097388"/>
                <a:gridCol w="1097388"/>
              </a:tblGrid>
              <a:tr h="804857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PAゴシック"/>
                        </a:rPr>
                        <a:t>ステップ</a:t>
                      </a:r>
                    </a:p>
                  </a:txBody>
                  <a:tcPr>
                    <a:solidFill>
                      <a:srgbClr val="1F35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PAゴシック"/>
                        </a:rPr>
                        <a:t>人数</a:t>
                      </a:r>
                    </a:p>
                  </a:txBody>
                  <a:tcPr>
                    <a:solidFill>
                      <a:srgbClr val="1F35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PAゴシック"/>
                        </a:rPr>
                        <a:t>率</a:t>
                      </a:r>
                    </a:p>
                  </a:txBody>
                  <a:tcPr>
                    <a:solidFill>
                      <a:srgbClr val="1F3564"/>
                    </a:solidFill>
                  </a:tcPr>
                </a:tc>
              </a:tr>
              <a:tr h="804857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3564"/>
                          </a:solidFill>
                          <a:latin typeface="IPAゴシック"/>
                        </a:rPr>
                        <a:t>上位校応募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3564"/>
                          </a:solidFill>
                          <a:latin typeface="IPAゴシック"/>
                        </a:rPr>
                        <a:t>54名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3564"/>
                          </a:solidFill>
                          <a:latin typeface="IPAゴシック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4857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3564"/>
                          </a:solidFill>
                          <a:latin typeface="IPAゴシック"/>
                        </a:rPr>
                        <a:t>説明会 参加</a:t>
                      </a:r>
                    </a:p>
                  </a:txBody>
                  <a:tcPr>
                    <a:solidFill>
                      <a:srgbClr val="EC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3564"/>
                          </a:solidFill>
                          <a:latin typeface="IPAゴシック"/>
                        </a:rPr>
                        <a:t>44名</a:t>
                      </a:r>
                    </a:p>
                  </a:txBody>
                  <a:tcPr>
                    <a:solidFill>
                      <a:srgbClr val="EC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7AE60"/>
                          </a:solidFill>
                          <a:latin typeface="IPAゴシック"/>
                        </a:rPr>
                        <a:t>81.5%</a:t>
                      </a:r>
                    </a:p>
                  </a:txBody>
                  <a:tcPr>
                    <a:solidFill>
                      <a:srgbClr val="ECF0F8"/>
                    </a:solidFill>
                  </a:tcPr>
                </a:tc>
              </a:tr>
              <a:tr h="804857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3564"/>
                          </a:solidFill>
                          <a:latin typeface="IPAゴシック"/>
                        </a:rPr>
                        <a:t>説明会 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3564"/>
                          </a:solidFill>
                          <a:latin typeface="IPAゴシック"/>
                        </a:rPr>
                        <a:t>25名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7AE60"/>
                          </a:solidFill>
                          <a:latin typeface="IPAゴシック"/>
                        </a:rPr>
                        <a:t>56.8%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4857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3564"/>
                          </a:solidFill>
                          <a:latin typeface="IPAゴシック"/>
                        </a:rPr>
                        <a:t>一次選考 通過</a:t>
                      </a:r>
                    </a:p>
                  </a:txBody>
                  <a:tcPr>
                    <a:solidFill>
                      <a:srgbClr val="EC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3564"/>
                          </a:solidFill>
                          <a:latin typeface="IPAゴシック"/>
                        </a:rPr>
                        <a:t>11名</a:t>
                      </a:r>
                    </a:p>
                  </a:txBody>
                  <a:tcPr>
                    <a:solidFill>
                      <a:srgbClr val="EC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5A623"/>
                          </a:solidFill>
                          <a:latin typeface="IPAゴシック"/>
                        </a:rPr>
                        <a:t>44.0%</a:t>
                      </a:r>
                    </a:p>
                  </a:txBody>
                  <a:tcPr>
                    <a:solidFill>
                      <a:srgbClr val="ECF0F8"/>
                    </a:solidFill>
                  </a:tcPr>
                </a:tc>
              </a:tr>
              <a:tr h="804857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3564"/>
                          </a:solidFill>
                          <a:latin typeface="IPAゴシック"/>
                        </a:rPr>
                        <a:t>最終選考 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3564"/>
                          </a:solidFill>
                          <a:latin typeface="IPAゴシック"/>
                        </a:rPr>
                        <a:t>1名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E85D5D"/>
                          </a:solidFill>
                          <a:latin typeface="IPAゴシック"/>
                        </a:rP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4857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E85D5D"/>
                          </a:solidFill>
                          <a:latin typeface="IPAゴシック"/>
                        </a:rPr>
                        <a:t>辞退合計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E85D5D"/>
                          </a:solidFill>
                          <a:latin typeface="IPAゴシック"/>
                        </a:rPr>
                        <a:t>22名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E85D5D"/>
                          </a:solidFill>
                          <a:latin typeface="IPAゴシック"/>
                        </a:rPr>
                        <a:t>40.7%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0"/>
            <a:ext cx="11833200" cy="7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IPAゴシック"/>
              </a:rPr>
              <a:t>辞退タイミング分析　変更前後比較（上位校）</a:t>
            </a:r>
          </a:p>
        </p:txBody>
      </p:sp>
      <p:pic>
        <p:nvPicPr>
          <p:cNvPr id="5" name="Picture 4" descr="辞退比較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936000"/>
            <a:ext cx="7315920" cy="5706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559784" y="1008000"/>
            <a:ext cx="4389552" cy="1800000"/>
          </a:xfrm>
          <a:prstGeom prst="rect">
            <a:avLst/>
          </a:prstGeom>
          <a:solidFill>
            <a:srgbClr val="E8F0FF"/>
          </a:solidFill>
          <a:ln w="25400">
            <a:solidFill>
              <a:srgbClr val="276C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67784" y="1080000"/>
            <a:ext cx="4209552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76CAE"/>
                </a:solidFill>
                <a:latin typeface="IPAゴシック"/>
              </a:rPr>
              <a:t>変更前（1/1-3/31）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67784" y="1440000"/>
            <a:ext cx="4209552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3564"/>
                </a:solidFill>
                <a:latin typeface="IPAゴシック"/>
              </a:rPr>
              <a:t>実施前辞退：1名
実施後辞退：0名
※説明会未実施のため
　直接比較は限定的</a:t>
            </a:r>
          </a:p>
        </p:txBody>
      </p:sp>
      <p:sp>
        <p:nvSpPr>
          <p:cNvPr id="9" name="Rectangle 8"/>
          <p:cNvSpPr/>
          <p:nvPr/>
        </p:nvSpPr>
        <p:spPr>
          <a:xfrm>
            <a:off x="7559784" y="2916000"/>
            <a:ext cx="4389552" cy="1800000"/>
          </a:xfrm>
          <a:prstGeom prst="rect">
            <a:avLst/>
          </a:prstGeom>
          <a:solidFill>
            <a:srgbClr val="E8FFEE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67784" y="2988000"/>
            <a:ext cx="4209552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7AE60"/>
                </a:solidFill>
                <a:latin typeface="IPAゴシック"/>
              </a:rPr>
              <a:t>変更後（4/1-現在）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67784" y="3348000"/>
            <a:ext cx="4209552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3564"/>
                </a:solidFill>
                <a:latin typeface="IPAゴシック"/>
              </a:rPr>
              <a:t>実施前辞退：10名（18.5%）
実施後辞退： 6名（11.1%）
合計辞退　：16名（29.6%）
→参加後辞退の原因分析が課題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59784" y="4824000"/>
            <a:ext cx="4389552" cy="1800000"/>
          </a:xfrm>
          <a:prstGeom prst="rect">
            <a:avLst/>
          </a:prstGeom>
          <a:solidFill>
            <a:srgbClr val="FFF8E8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67784" y="4896000"/>
            <a:ext cx="4209552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  <a:latin typeface="IPAゴシック"/>
              </a:rPr>
              <a:t>改善ポイント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67784" y="5256000"/>
            <a:ext cx="4209552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3564"/>
                </a:solidFill>
                <a:latin typeface="IPAゴシック"/>
              </a:rPr>
              <a:t>実施前辞退の削減：
  応募前の情報提供を強化
実施後辞退の削減：
  説明会内容の精度向上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6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0"/>
            <a:ext cx="11833200" cy="7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IPAゴシック"/>
              </a:rPr>
              <a:t>まとめ　と　次のアクション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144000" y="900000"/>
            <a:ext cx="11905200" cy="1426500"/>
          </a:xfrm>
          <a:prstGeom prst="rect">
            <a:avLst/>
          </a:prstGeom>
          <a:solidFill>
            <a:srgbClr val="ECF0F8"/>
          </a:solidFill>
          <a:ln w="25400">
            <a:solidFill>
              <a:srgbClr val="1F3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1999" y="972000"/>
            <a:ext cx="3240000" cy="135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564"/>
                </a:solidFill>
                <a:latin typeface="IPAゴシック"/>
              </a:rPr>
              <a:t>応募者数の変化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0000" y="972000"/>
            <a:ext cx="8161201" cy="135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564"/>
                </a:solidFill>
                <a:latin typeface="IPAゴシック"/>
              </a:rPr>
              <a:t>変更後（4/1〜）は変更前（1/1〜3/31）比で約20倍の応募者を獲得。
上位校：4名→54名（13.5倍増）。採用母集団が大幅拡大。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44000" y="2362500"/>
            <a:ext cx="11905200" cy="1426500"/>
          </a:xfrm>
          <a:prstGeom prst="rect">
            <a:avLst/>
          </a:prstGeom>
          <a:solidFill>
            <a:srgbClr val="E8FFEE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999" y="2434500"/>
            <a:ext cx="3240000" cy="135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7AE60"/>
                </a:solidFill>
                <a:latin typeface="IPAゴシック"/>
              </a:rPr>
              <a:t>説明会参加率（変更後）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80000" y="2434500"/>
            <a:ext cx="8161201" cy="135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564"/>
                </a:solidFill>
                <a:latin typeface="IPAゴシック"/>
              </a:rPr>
              <a:t>上位校の参加率は81.5%（44/54名）。
実施前辞退10名（18.5%）の削減が次の優先課題。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4000" y="3825000"/>
            <a:ext cx="11905200" cy="1426500"/>
          </a:xfrm>
          <a:prstGeom prst="rect">
            <a:avLst/>
          </a:prstGeom>
          <a:solidFill>
            <a:srgbClr val="FFF8E8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999" y="3897000"/>
            <a:ext cx="3240000" cy="135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A623"/>
                </a:solidFill>
                <a:latin typeface="IPAゴシック"/>
              </a:rPr>
              <a:t>説明会通過率（変更後）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80000" y="3897000"/>
            <a:ext cx="8161201" cy="135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564"/>
                </a:solidFill>
                <a:latin typeface="IPAゴシック"/>
              </a:rPr>
              <a:t>参加者中の通過率は56.8%（25/44名）。参加した候補者の半数以上が通過。
説明会の質は一定水準を確保。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4000" y="5287500"/>
            <a:ext cx="11905200" cy="1426500"/>
          </a:xfrm>
          <a:prstGeom prst="rect">
            <a:avLst/>
          </a:prstGeom>
          <a:solidFill>
            <a:srgbClr val="FFF0F0"/>
          </a:solidFill>
          <a:ln w="25400">
            <a:solidFill>
              <a:srgbClr val="E8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1999" y="5359500"/>
            <a:ext cx="3240000" cy="135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D5D"/>
                </a:solidFill>
                <a:latin typeface="IPAゴシック"/>
              </a:rPr>
              <a:t>変更前データの評価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80000" y="5359500"/>
            <a:ext cx="8161201" cy="135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564"/>
                </a:solidFill>
                <a:latin typeface="IPAゴシック"/>
              </a:rPr>
              <a:t>変更前（1/1-3/31）の19名はまだ説明会選考中。
結果確定後に参加率・通過率の直接比較が可能になる。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