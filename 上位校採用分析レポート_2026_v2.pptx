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3200" cy="1920240"/>
          </a:xfrm>
          <a:prstGeom prst="rect">
            <a:avLst/>
          </a:prstGeom>
          <a:solidFill>
            <a:srgbClr val="276C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260000"/>
            <a:ext cx="100332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上位校 採用選考 進捗レポート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2592000"/>
            <a:ext cx="100332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IPAGothic"/>
              </a:rPr>
              <a:t>対象期間：2026年1月〜7月　／　GMARCH以上（上位校）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3240000"/>
            <a:ext cx="100332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AACCFF"/>
                </a:solidFill>
                <a:latin typeface="IPAGothic"/>
              </a:rPr>
              <a:t>集計日：2026年7月2日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4248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総応募者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19名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全大学合計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83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6300" y="4248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上位校応募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4名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GMARCH・関関同立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6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4600" y="4248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現在選考中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18名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説明会兼WEB選考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4900" y="4140000"/>
            <a:ext cx="2724300" cy="1980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2900" y="4248000"/>
            <a:ext cx="25803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Gothic"/>
              </a:rPr>
              <a:t>辞退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IPAGothic"/>
              </a:rPr>
              <a:t>1名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サマリー：上位校　選考進捗（2026年1〜7月）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0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7AE60"/>
                </a:solidFill>
                <a:latin typeface="IPAGothic"/>
              </a:rPr>
              <a:t>上位校応募者数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4名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関関同立2・MARCH2</a:t>
            </a:r>
          </a:p>
        </p:txBody>
      </p:sp>
      <p:sp>
        <p:nvSpPr>
          <p:cNvPr id="6" name="Rectangle 5"/>
          <p:cNvSpPr/>
          <p:nvPr/>
        </p:nvSpPr>
        <p:spPr>
          <a:xfrm>
            <a:off x="31203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923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3564"/>
                </a:solidFill>
                <a:latin typeface="IPAGothic"/>
              </a:rPr>
              <a:t>全体応募者数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19名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全応募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46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6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  <a:latin typeface="IPAGothic"/>
              </a:rPr>
              <a:t>現在選考中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18名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説明会兼WEB選考 進行中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28900" y="972000"/>
            <a:ext cx="2796300" cy="144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900" y="1043999"/>
            <a:ext cx="2652301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5D5D"/>
                </a:solidFill>
                <a:latin typeface="IPAGothic"/>
              </a:rPr>
              <a:t>辞退</a:t>
            </a:r>
          </a:p>
          <a:p>
            <a:pPr algn="ctr"/>
            <a:r>
              <a:rPr sz="3400" b="1">
                <a:solidFill>
                  <a:srgbClr val="1F3564"/>
                </a:solidFill>
                <a:latin typeface="IPAGothic"/>
              </a:rPr>
              <a:t>1名</a:t>
            </a:r>
          </a:p>
          <a:p>
            <a:pPr algn="ctr"/>
            <a:r>
              <a:rPr sz="1200" b="0">
                <a:solidFill>
                  <a:srgbClr val="AAAAAA"/>
                </a:solidFill>
                <a:latin typeface="IPAGothic"/>
              </a:rPr>
              <a:t>説明会実施前辞退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0000" y="2664000"/>
          <a:ext cx="9684000" cy="401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1152000"/>
                <a:gridCol w="1152000"/>
                <a:gridCol w="900000"/>
                <a:gridCol w="900000"/>
                <a:gridCol w="1800000"/>
              </a:tblGrid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選考ステップ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対象者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辞退(実施前)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辞退(実施後)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通過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不合格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備考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Gothic"/>
                        </a:rPr>
                        <a:t>説明会兼WEB選考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19名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7AE60"/>
                          </a:solidFill>
                          <a:latin typeface="IPAGothic"/>
                        </a:rPr>
                        <a:t>18名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E85D5D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選考開始段階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Gothic"/>
                        </a:rPr>
                        <a:t>一次選考(WEB)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未実施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Gothic"/>
                        </a:rPr>
                        <a:t>二次選考(WEBor対面)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未実施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2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Gothic"/>
                        </a:rPr>
                        <a:t>最終選考(対面)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AAAAA"/>
                          </a:solidFill>
                          <a:latin typeface="IPAGothic"/>
                        </a:rPr>
                        <a:t>—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未実施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選考ファネル：全体応募〜選考状況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900000"/>
            <a:ext cx="118332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85D5D"/>
                </a:solidFill>
                <a:latin typeface="IPAGothic"/>
              </a:rPr>
              <a:t>※ 現在ほぼ全員が説明会兼WEB選考の選考中フェーズ（2026年1〜7月集計）</a:t>
            </a:r>
          </a:p>
        </p:txBody>
      </p:sp>
      <p:pic>
        <p:nvPicPr>
          <p:cNvPr id="5" name="Picture 4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260000"/>
            <a:ext cx="10753200" cy="534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pic>
        <p:nvPicPr>
          <p:cNvPr id="4" name="Picture 3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72000"/>
            <a:ext cx="7072055" cy="552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920" y="1152000"/>
            <a:ext cx="4511484" cy="53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564"/>
                </a:solidFill>
                <a:latin typeface="IPAGothic"/>
              </a:rPr>
              <a:t>【上位校内訳】</a:t>
            </a:r>
          </a:p>
          <a:p>
            <a:r>
              <a:rPr sz="1800" b="1">
                <a:solidFill>
                  <a:srgbClr val="1F3564"/>
                </a:solidFill>
                <a:latin typeface="IPAGothic"/>
              </a:rPr>
              <a:t>関西学院大学　2名</a:t>
            </a:r>
          </a:p>
          <a:p>
            <a:r>
              <a:rPr sz="1800" b="1">
                <a:solidFill>
                  <a:srgbClr val="1F3564"/>
                </a:solidFill>
                <a:latin typeface="IPAGothic"/>
              </a:rPr>
              <a:t>明治大学　　　1名</a:t>
            </a:r>
          </a:p>
          <a:p>
            <a:r>
              <a:rPr sz="1800" b="1">
                <a:solidFill>
                  <a:srgbClr val="1F3564"/>
                </a:solidFill>
                <a:latin typeface="IPAGothic"/>
              </a:rPr>
              <a:t>同志社大学　　1名</a:t>
            </a:r>
          </a:p>
          <a:p>
            <a:r>
              <a:rPr sz="800" b="0">
                <a:solidFill>
                  <a:srgbClr val="1F3564"/>
                </a:solidFill>
                <a:latin typeface="IPAGothic"/>
              </a:rPr>
              <a:t/>
            </a:r>
          </a:p>
          <a:p>
            <a:r>
              <a:rPr sz="1500" b="1">
                <a:solidFill>
                  <a:srgbClr val="E85D5D"/>
                </a:solidFill>
                <a:latin typeface="IPAGothic"/>
              </a:rPr>
              <a:t>【ポイント】</a:t>
            </a:r>
          </a:p>
          <a:p>
            <a:r>
              <a:rPr sz="1400" b="0">
                <a:solidFill>
                  <a:srgbClr val="1F3564"/>
                </a:solidFill>
                <a:latin typeface="IPAGothic"/>
              </a:rPr>
              <a:t>・上位校比率：21%（4名/19名）</a:t>
            </a:r>
          </a:p>
          <a:p>
            <a:r>
              <a:rPr sz="1400" b="0">
                <a:solidFill>
                  <a:srgbClr val="AAAAAA"/>
                </a:solidFill>
                <a:latin typeface="IPAGothic"/>
              </a:rPr>
              <a:t>・旧帝大・早慶は応募なし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上位校　個別大学別　応募者数</a:t>
            </a:r>
          </a:p>
        </p:txBody>
      </p:sp>
      <p:pic>
        <p:nvPicPr>
          <p:cNvPr id="4" name="Picture 3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080000"/>
            <a:ext cx="6706260" cy="534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920" y="1332000"/>
            <a:ext cx="4511484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7AE60"/>
                </a:solidFill>
                <a:latin typeface="IPAGothic"/>
              </a:rPr>
              <a:t>【全員 選考中】</a:t>
            </a:r>
          </a:p>
          <a:p>
            <a:r>
              <a:rPr sz="1500" b="1">
                <a:solidFill>
                  <a:srgbClr val="1F3564"/>
                </a:solidFill>
                <a:latin typeface="IPAGothic"/>
              </a:rPr>
              <a:t>関西学院大学（経済学部）</a:t>
            </a:r>
          </a:p>
          <a:p>
            <a:r>
              <a:rPr sz="1500" b="1">
                <a:solidFill>
                  <a:srgbClr val="1F3564"/>
                </a:solidFill>
                <a:latin typeface="IPAGothic"/>
              </a:rPr>
              <a:t>関西学院大学（文学部）</a:t>
            </a:r>
          </a:p>
          <a:p>
            <a:r>
              <a:rPr sz="1500" b="1">
                <a:solidFill>
                  <a:srgbClr val="1F3564"/>
                </a:solidFill>
                <a:latin typeface="IPAGothic"/>
              </a:rPr>
              <a:t>明治大学（商学部）</a:t>
            </a:r>
          </a:p>
          <a:p>
            <a:r>
              <a:rPr sz="1500" b="1">
                <a:solidFill>
                  <a:srgbClr val="1F3564"/>
                </a:solidFill>
                <a:latin typeface="IPAGothic"/>
              </a:rPr>
              <a:t>同志社大学（文化情報学部）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選考ステータス内訳（全応募者）</a:t>
            </a:r>
          </a:p>
        </p:txBody>
      </p:sp>
      <p:pic>
        <p:nvPicPr>
          <p:cNvPr id="4" name="Picture 3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00000"/>
            <a:ext cx="5365008" cy="5634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30804.0" y="972000"/>
          <a:ext cx="6096600" cy="56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3130"/>
                <a:gridCol w="914490"/>
                <a:gridCol w="1828980"/>
              </a:tblGrid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大学名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上位校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Gothic"/>
                        </a:rPr>
                        <a:t>ステータス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関西学院大学(×2)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5A623"/>
                          </a:solidFill>
                          <a:latin typeface="IPAGothic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明治大学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5A623"/>
                          </a:solidFill>
                          <a:latin typeface="IPAGothic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同志社大学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5A623"/>
                          </a:solidFill>
                          <a:latin typeface="IPAGothic"/>
                        </a:rPr>
                        <a:t>★</a:t>
                      </a:r>
                    </a:p>
                  </a:txBody>
                  <a:tcPr>
                    <a:solidFill>
                      <a:srgbClr val="FFF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駒澤大学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E85D5D"/>
                          </a:solidFill>
                          <a:latin typeface="IPAGothic"/>
                        </a:rPr>
                        <a:t>辞退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専修大学(×2)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神奈川大学(×2)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日本大学(×2)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その他（計10名）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辞退分析：理由・タイミング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972000"/>
            <a:ext cx="114732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E85D5D"/>
                </a:solidFill>
                <a:latin typeface="IPAGothic"/>
              </a:rPr>
              <a:t>辞退者：1名（説明会実施前辞退）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0000" y="1404000"/>
          <a:ext cx="120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40000"/>
                <a:gridCol w="2340000"/>
                <a:gridCol w="6433200"/>
              </a:tblGrid>
              <a:tr h="576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ステップ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辞退タイミング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辞退理由分類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辞退理由詳細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576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説明会兼WEB選考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E85D5D"/>
                          </a:solidFill>
                          <a:latin typeface="IPAGothic"/>
                        </a:rPr>
                        <a:t>実施前辞退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働き方・制度・カルチャー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3564"/>
                          </a:solidFill>
                          <a:latin typeface="IPAGothic"/>
                        </a:rPr>
                        <a:t>会社説明会前：自身の軸と合わないと感じたため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80000" y="2772000"/>
            <a:ext cx="3776400" cy="394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00" y="2880000"/>
            <a:ext cx="3596400" cy="3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564"/>
                </a:solidFill>
                <a:latin typeface="IPAGothic"/>
              </a:rPr>
              <a:t>説明会兼WEB選考</a:t>
            </a:r>
          </a:p>
          <a:p>
            <a:pPr algn="ctr"/>
            <a:r>
              <a:rPr sz="1800" b="1">
                <a:solidFill>
                  <a:srgbClr val="E85D5D"/>
                </a:solidFill>
                <a:latin typeface="IPAGothic"/>
              </a:rPr>
              <a:t>実施前辞退：1名</a:t>
            </a:r>
          </a:p>
          <a:p>
            <a:pPr algn="ctr"/>
            <a:r>
              <a:rPr sz="1800" b="1">
                <a:solidFill>
                  <a:srgbClr val="AAAAAA"/>
                </a:solidFill>
                <a:latin typeface="IPAGothic"/>
              </a:rPr>
              <a:t>実施後辞退：0名</a:t>
            </a:r>
          </a:p>
          <a:p>
            <a:r>
              <a:rPr sz="1200" b="0">
                <a:solidFill>
                  <a:srgbClr val="555555"/>
                </a:solidFill>
                <a:latin typeface="IPAGothic"/>
              </a:rPr>
              <a:t>説明会前の離脱。
参加後の辞退はなし。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400" y="2772000"/>
            <a:ext cx="3776400" cy="394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72400" y="2880000"/>
            <a:ext cx="3596400" cy="3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564"/>
                </a:solidFill>
                <a:latin typeface="IPAGothic"/>
              </a:rPr>
              <a:t>一次選考(WEB)</a:t>
            </a:r>
          </a:p>
          <a:p>
            <a:pPr algn="ctr"/>
            <a:r>
              <a:rPr sz="1800" b="1">
                <a:solidFill>
                  <a:srgbClr val="AAAAAA"/>
                </a:solidFill>
                <a:latin typeface="IPAGothic"/>
              </a:rPr>
              <a:t>実施前辞退：0名</a:t>
            </a:r>
          </a:p>
          <a:p>
            <a:pPr algn="ctr"/>
            <a:r>
              <a:rPr sz="1800" b="1">
                <a:solidFill>
                  <a:srgbClr val="AAAAAA"/>
                </a:solidFill>
                <a:latin typeface="IPAGothic"/>
              </a:rPr>
              <a:t>実施後辞退：0名</a:t>
            </a:r>
          </a:p>
          <a:p>
            <a:r>
              <a:rPr sz="1200" b="0">
                <a:solidFill>
                  <a:srgbClr val="555555"/>
                </a:solidFill>
                <a:latin typeface="IPAGothic"/>
              </a:rPr>
              <a:t>未実施（選考前フェーズ）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8800" y="2772000"/>
            <a:ext cx="3776400" cy="394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56800" y="2880000"/>
            <a:ext cx="3596400" cy="3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564"/>
                </a:solidFill>
                <a:latin typeface="IPAGothic"/>
              </a:rPr>
              <a:t>最終選考(対面)</a:t>
            </a:r>
          </a:p>
          <a:p>
            <a:pPr algn="ctr"/>
            <a:r>
              <a:rPr sz="1800" b="1">
                <a:solidFill>
                  <a:srgbClr val="AAAAAA"/>
                </a:solidFill>
                <a:latin typeface="IPAGothic"/>
              </a:rPr>
              <a:t>実施前辞退：0名</a:t>
            </a:r>
          </a:p>
          <a:p>
            <a:pPr algn="ctr"/>
            <a:r>
              <a:rPr sz="1800" b="1">
                <a:solidFill>
                  <a:srgbClr val="AAAAAA"/>
                </a:solidFill>
                <a:latin typeface="IPAGothic"/>
              </a:rPr>
              <a:t>実施後辞退：0名</a:t>
            </a:r>
          </a:p>
          <a:p>
            <a:r>
              <a:rPr sz="1200" b="0">
                <a:solidFill>
                  <a:srgbClr val="555555"/>
                </a:solidFill>
                <a:latin typeface="IPAGothic"/>
              </a:rPr>
              <a:t>未実施（選考前フェーズ）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エージェント（人材紹介会社）別　応募状況</a:t>
            </a:r>
          </a:p>
        </p:txBody>
      </p:sp>
      <p:pic>
        <p:nvPicPr>
          <p:cNvPr id="4" name="Picture 3" descr="agen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972000"/>
            <a:ext cx="6584328" cy="5526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06260.000000001" y="1008000"/>
          <a:ext cx="5243073" cy="55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091"/>
                <a:gridCol w="786461"/>
                <a:gridCol w="786461"/>
                <a:gridCol w="681599"/>
                <a:gridCol w="786461"/>
              </a:tblGrid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エージェント企業名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紹介数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選考中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IPAGothic"/>
                        </a:rPr>
                        <a:t>辞退率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レバレジーズ株式会社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16名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15名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E85D5D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キャリアスタート株式会社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2名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2名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0.0%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株式会社キャリタス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AAAAAA"/>
                          </a:solidFill>
                          <a:latin typeface="IPAGothic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05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19名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18名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1名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564"/>
                          </a:solidFill>
                          <a:latin typeface="IPAGothic"/>
                        </a:rPr>
                        <a:t>5.3%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