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37760"/>
            <a:ext cx="12193200" cy="1920240"/>
          </a:xfrm>
          <a:prstGeom prst="rect">
            <a:avLst/>
          </a:prstGeom>
          <a:solidFill>
            <a:srgbClr val="276C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0000" y="1260000"/>
            <a:ext cx="10033200" cy="10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IPAGothic"/>
              </a:rPr>
              <a:t>上位校 採用選考 進捗レポート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0000" y="2592000"/>
            <a:ext cx="100332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CCDDFF"/>
                </a:solidFill>
                <a:latin typeface="IPAGothic"/>
              </a:rPr>
              <a:t>対象期間：2026年1月〜7月　／　GMARCH以上（上位校）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000" y="3240000"/>
            <a:ext cx="100332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AACCFF"/>
                </a:solidFill>
                <a:latin typeface="IPAGothic"/>
              </a:rPr>
              <a:t>集計日：2026年7月2日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4140000"/>
            <a:ext cx="2724300" cy="1980000"/>
          </a:xfrm>
          <a:prstGeom prst="rect">
            <a:avLst/>
          </a:prstGeom>
          <a:solidFill>
            <a:srgbClr val="0D1E45"/>
          </a:solidFill>
          <a:ln w="19050">
            <a:solidFill>
              <a:srgbClr val="276C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000" y="4212000"/>
            <a:ext cx="25803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9BBFF"/>
                </a:solidFill>
                <a:latin typeface="IPAGothic"/>
              </a:rPr>
              <a:t>総応募者</a:t>
            </a:r>
          </a:p>
          <a:p>
            <a:pPr algn="ctr"/>
            <a:r>
              <a:rPr sz="3600" b="1">
                <a:solidFill>
                  <a:srgbClr val="FFFFFF"/>
                </a:solidFill>
                <a:latin typeface="IPAGothic"/>
              </a:rPr>
              <a:t>19名</a:t>
            </a:r>
          </a:p>
          <a:p>
            <a:pPr algn="ctr"/>
            <a:r>
              <a:rPr sz="1200" b="0">
                <a:solidFill>
                  <a:srgbClr val="AAAAAA"/>
                </a:solidFill>
                <a:latin typeface="IPAGothic"/>
              </a:rPr>
              <a:t>全大学合計</a:t>
            </a:r>
          </a:p>
        </p:txBody>
      </p:sp>
      <p:sp>
        <p:nvSpPr>
          <p:cNvPr id="9" name="Rectangle 8"/>
          <p:cNvSpPr/>
          <p:nvPr/>
        </p:nvSpPr>
        <p:spPr>
          <a:xfrm>
            <a:off x="3228300" y="4140000"/>
            <a:ext cx="2724300" cy="1980000"/>
          </a:xfrm>
          <a:prstGeom prst="rect">
            <a:avLst/>
          </a:prstGeom>
          <a:solidFill>
            <a:srgbClr val="0D1E45"/>
          </a:solidFill>
          <a:ln w="19050">
            <a:solidFill>
              <a:srgbClr val="276C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6300" y="4212000"/>
            <a:ext cx="25803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9BBFF"/>
                </a:solidFill>
                <a:latin typeface="IPAGothic"/>
              </a:rPr>
              <a:t>上位校応募</a:t>
            </a:r>
          </a:p>
          <a:p>
            <a:pPr algn="ctr"/>
            <a:r>
              <a:rPr sz="3600" b="1">
                <a:solidFill>
                  <a:srgbClr val="FFFFFF"/>
                </a:solidFill>
                <a:latin typeface="IPAGothic"/>
              </a:rPr>
              <a:t>4名</a:t>
            </a:r>
          </a:p>
          <a:p>
            <a:pPr algn="ctr"/>
            <a:r>
              <a:rPr sz="1200" b="0">
                <a:solidFill>
                  <a:srgbClr val="AAAAAA"/>
                </a:solidFill>
                <a:latin typeface="IPAGothic"/>
              </a:rPr>
              <a:t>GMARCH・関関同立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600" y="4140000"/>
            <a:ext cx="2724300" cy="1980000"/>
          </a:xfrm>
          <a:prstGeom prst="rect">
            <a:avLst/>
          </a:prstGeom>
          <a:solidFill>
            <a:srgbClr val="0D1E45"/>
          </a:solidFill>
          <a:ln w="19050">
            <a:solidFill>
              <a:srgbClr val="276C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04600" y="4212000"/>
            <a:ext cx="25803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9BBFF"/>
                </a:solidFill>
                <a:latin typeface="IPAGothic"/>
              </a:rPr>
              <a:t>選考中</a:t>
            </a:r>
          </a:p>
          <a:p>
            <a:pPr algn="ctr"/>
            <a:r>
              <a:rPr sz="3600" b="1">
                <a:solidFill>
                  <a:srgbClr val="FFFFFF"/>
                </a:solidFill>
                <a:latin typeface="IPAGothic"/>
              </a:rPr>
              <a:t>18名</a:t>
            </a:r>
          </a:p>
          <a:p>
            <a:pPr algn="ctr"/>
            <a:r>
              <a:rPr sz="1200" b="0">
                <a:solidFill>
                  <a:srgbClr val="AAAAAA"/>
                </a:solidFill>
                <a:latin typeface="IPAGothic"/>
              </a:rPr>
              <a:t>説明会兼WEB選考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4900" y="4140000"/>
            <a:ext cx="2724300" cy="1980000"/>
          </a:xfrm>
          <a:prstGeom prst="rect">
            <a:avLst/>
          </a:prstGeom>
          <a:solidFill>
            <a:srgbClr val="0D1E45"/>
          </a:solidFill>
          <a:ln w="19050">
            <a:solidFill>
              <a:srgbClr val="276C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72900" y="4212000"/>
            <a:ext cx="25803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9BBFF"/>
                </a:solidFill>
                <a:latin typeface="IPAGothic"/>
              </a:rPr>
              <a:t>辞退</a:t>
            </a:r>
          </a:p>
          <a:p>
            <a:pPr algn="ctr"/>
            <a:r>
              <a:rPr sz="3600" b="1">
                <a:solidFill>
                  <a:srgbClr val="FFFFFF"/>
                </a:solidFill>
                <a:latin typeface="IPAGothic"/>
              </a:rPr>
              <a:t>1名</a:t>
            </a:r>
          </a:p>
          <a:p>
            <a:pPr algn="ctr"/>
            <a:r>
              <a:rPr sz="1200" b="0">
                <a:solidFill>
                  <a:srgbClr val="AAAAAA"/>
                </a:solidFill>
                <a:latin typeface="IPAGothic"/>
              </a:rPr>
              <a:t>説明会前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PAGothic"/>
              </a:rPr>
              <a:t>サマリー：上位校　選考進捗（2026年1月〜7月）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216000" y="972000"/>
            <a:ext cx="2796300" cy="144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043999"/>
            <a:ext cx="2652301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7AE60"/>
                </a:solidFill>
                <a:latin typeface="IPAGothic"/>
              </a:rPr>
              <a:t>上位校応募者数</a:t>
            </a:r>
          </a:p>
          <a:p>
            <a:pPr algn="ctr"/>
            <a:r>
              <a:rPr sz="3400" b="1">
                <a:solidFill>
                  <a:srgbClr val="1F3564"/>
                </a:solidFill>
                <a:latin typeface="IPAGothic"/>
              </a:rPr>
              <a:t>4名</a:t>
            </a:r>
          </a:p>
          <a:p>
            <a:pPr algn="ctr"/>
            <a:r>
              <a:rPr sz="1200" b="0">
                <a:solidFill>
                  <a:srgbClr val="AAAAAA"/>
                </a:solidFill>
                <a:latin typeface="IPAGothic"/>
              </a:rPr>
              <a:t>関関同立2・MARCH2</a:t>
            </a:r>
          </a:p>
        </p:txBody>
      </p:sp>
      <p:sp>
        <p:nvSpPr>
          <p:cNvPr id="6" name="Rectangle 5"/>
          <p:cNvSpPr/>
          <p:nvPr/>
        </p:nvSpPr>
        <p:spPr>
          <a:xfrm>
            <a:off x="3120300" y="972000"/>
            <a:ext cx="2796300" cy="144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1F3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92300" y="1043999"/>
            <a:ext cx="2652301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F3564"/>
                </a:solidFill>
                <a:latin typeface="IPAGothic"/>
              </a:rPr>
              <a:t>全体応募者数</a:t>
            </a:r>
          </a:p>
          <a:p>
            <a:pPr algn="ctr"/>
            <a:r>
              <a:rPr sz="3400" b="1">
                <a:solidFill>
                  <a:srgbClr val="1F3564"/>
                </a:solidFill>
                <a:latin typeface="IPAGothic"/>
              </a:rPr>
              <a:t>19名</a:t>
            </a:r>
          </a:p>
          <a:p>
            <a:pPr algn="ctr"/>
            <a:r>
              <a:rPr sz="1200" b="0">
                <a:solidFill>
                  <a:srgbClr val="AAAAAA"/>
                </a:solidFill>
                <a:latin typeface="IPAGothic"/>
              </a:rPr>
              <a:t>上位校含む全応募</a:t>
            </a:r>
          </a:p>
        </p:txBody>
      </p:sp>
      <p:sp>
        <p:nvSpPr>
          <p:cNvPr id="8" name="Rectangle 7"/>
          <p:cNvSpPr/>
          <p:nvPr/>
        </p:nvSpPr>
        <p:spPr>
          <a:xfrm>
            <a:off x="6024600" y="972000"/>
            <a:ext cx="2796300" cy="144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600" y="1043999"/>
            <a:ext cx="2652301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A623"/>
                </a:solidFill>
                <a:latin typeface="IPAGothic"/>
              </a:rPr>
              <a:t>現在選考中</a:t>
            </a:r>
          </a:p>
          <a:p>
            <a:pPr algn="ctr"/>
            <a:r>
              <a:rPr sz="3400" b="1">
                <a:solidFill>
                  <a:srgbClr val="1F3564"/>
                </a:solidFill>
                <a:latin typeface="IPAGothic"/>
              </a:rPr>
              <a:t>18名</a:t>
            </a:r>
          </a:p>
          <a:p>
            <a:pPr algn="ctr"/>
            <a:r>
              <a:rPr sz="1200" b="0">
                <a:solidFill>
                  <a:srgbClr val="AAAAAA"/>
                </a:solidFill>
                <a:latin typeface="IPAGothic"/>
              </a:rPr>
              <a:t>説明会兼WEB選考 進行中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28900" y="972000"/>
            <a:ext cx="2796300" cy="144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0900" y="1043999"/>
            <a:ext cx="2652301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85D5D"/>
                </a:solidFill>
                <a:latin typeface="IPAGothic"/>
              </a:rPr>
              <a:t>辞退</a:t>
            </a:r>
          </a:p>
          <a:p>
            <a:pPr algn="ctr"/>
            <a:r>
              <a:rPr sz="3400" b="1">
                <a:solidFill>
                  <a:srgbClr val="1F3564"/>
                </a:solidFill>
                <a:latin typeface="IPAGothic"/>
              </a:rPr>
              <a:t>1名</a:t>
            </a:r>
          </a:p>
          <a:p>
            <a:pPr algn="ctr"/>
            <a:r>
              <a:rPr sz="1200" b="0">
                <a:solidFill>
                  <a:srgbClr val="AAAAAA"/>
                </a:solidFill>
                <a:latin typeface="IPAGothic"/>
              </a:rPr>
              <a:t>説明会実施前辞退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80000" y="2664000"/>
          <a:ext cx="9900000" cy="401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900000"/>
                <a:gridCol w="900000"/>
                <a:gridCol w="1260000"/>
                <a:gridCol w="1260000"/>
                <a:gridCol w="900000"/>
                <a:gridCol w="900000"/>
                <a:gridCol w="1800000"/>
              </a:tblGrid>
              <a:tr h="802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選考ステップ</a:t>
                      </a:r>
                    </a:p>
                  </a:txBody>
                  <a:tcPr>
                    <a:solidFill>
                      <a:srgbClr val="1F3564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対象者</a:t>
                      </a:r>
                    </a:p>
                  </a:txBody>
                  <a:tcPr>
                    <a:solidFill>
                      <a:srgbClr val="1F3564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選考中</a:t>
                      </a:r>
                    </a:p>
                  </a:txBody>
                  <a:tcPr>
                    <a:solidFill>
                      <a:srgbClr val="1F3564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辞退（実施前）</a:t>
                      </a:r>
                    </a:p>
                  </a:txBody>
                  <a:tcPr>
                    <a:solidFill>
                      <a:srgbClr val="1F3564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辞退（実施後）</a:t>
                      </a:r>
                    </a:p>
                  </a:txBody>
                  <a:tcPr>
                    <a:solidFill>
                      <a:srgbClr val="1F3564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通過</a:t>
                      </a:r>
                    </a:p>
                  </a:txBody>
                  <a:tcPr>
                    <a:solidFill>
                      <a:srgbClr val="1F3564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不合格</a:t>
                      </a:r>
                    </a:p>
                  </a:txBody>
                  <a:tcPr>
                    <a:solidFill>
                      <a:srgbClr val="1F3564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備考</a:t>
                      </a:r>
                    </a:p>
                  </a:txBody>
                  <a:tcPr>
                    <a:solidFill>
                      <a:srgbClr val="1F3564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  <a:tr h="80280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3564"/>
                          </a:solidFill>
                          <a:latin typeface="IPAGothic"/>
                        </a:rPr>
                        <a:t>説明会兼WEB選考</a:t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3564"/>
                          </a:solidFill>
                          <a:latin typeface="IPAGothic"/>
                        </a:rPr>
                        <a:t>19名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7AE60"/>
                          </a:solidFill>
                          <a:latin typeface="IPAGothic"/>
                        </a:rPr>
                        <a:t>18名</a:t>
                      </a:r>
                    </a:p>
                  </a:txBody>
                  <a:tcPr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E85D5D"/>
                          </a:solidFill>
                          <a:latin typeface="IPAGothic"/>
                        </a:rPr>
                        <a:t>1名</a:t>
                      </a:r>
                    </a:p>
                  </a:txBody>
                  <a:tcPr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3564"/>
                          </a:solidFill>
                          <a:latin typeface="IPAGothic"/>
                        </a:rPr>
                        <a:t>0名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3564"/>
                          </a:solidFill>
                          <a:latin typeface="IPAGothic"/>
                        </a:rPr>
                        <a:t>選考開始段階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  <a:tr h="80280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3564"/>
                          </a:solidFill>
                          <a:latin typeface="IPAGothic"/>
                        </a:rPr>
                        <a:t>一次選考(WEB)</a:t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3564"/>
                          </a:solidFill>
                          <a:latin typeface="IPAGothic"/>
                        </a:rPr>
                        <a:t>未実施</a:t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  <a:tr h="80280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3564"/>
                          </a:solidFill>
                          <a:latin typeface="IPAGothic"/>
                        </a:rPr>
                        <a:t>二次選考(WEBor対面)</a:t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3564"/>
                          </a:solidFill>
                          <a:latin typeface="IPAGothic"/>
                        </a:rPr>
                        <a:t>未実施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  <a:tr h="80280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3564"/>
                          </a:solidFill>
                          <a:latin typeface="IPAGothic"/>
                        </a:rPr>
                        <a:t>最終選考(対面)</a:t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3564"/>
                          </a:solidFill>
                          <a:latin typeface="IPAGothic"/>
                        </a:rPr>
                        <a:t>未実施</a:t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PAGothic"/>
              </a:rPr>
              <a:t>選考ファネル：全体応募〜選考状況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0000" y="900000"/>
            <a:ext cx="118332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E85D5D"/>
                </a:solidFill>
                <a:latin typeface="IPAGothic"/>
              </a:rPr>
              <a:t>※ 2026年1月〜7月集計。現在ほぼ全員が説明会兼WEB選考の選考中フェーズ。</a:t>
            </a:r>
          </a:p>
        </p:txBody>
      </p:sp>
      <p:pic>
        <p:nvPicPr>
          <p:cNvPr id="5" name="Picture 4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260000"/>
            <a:ext cx="10753200" cy="5346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PAGothic"/>
              </a:rPr>
              <a:t>大学グループ別　応募者数</a:t>
            </a:r>
          </a:p>
        </p:txBody>
      </p:sp>
      <p:pic>
        <p:nvPicPr>
          <p:cNvPr id="4" name="Picture 3" descr="grou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972000"/>
            <a:ext cx="7072055" cy="552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920" y="1080000"/>
            <a:ext cx="4633416" cy="53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564"/>
                </a:solidFill>
                <a:latin typeface="IPAGothic"/>
              </a:rPr>
              <a:t>【上位校内訳】</a:t>
            </a:r>
          </a:p>
          <a:p/>
          <a:p/>
          <a:p>
            <a:r>
              <a:rPr sz="1800" b="1">
                <a:solidFill>
                  <a:srgbClr val="1F3564"/>
                </a:solidFill>
                <a:latin typeface="IPAGothic"/>
              </a:rPr>
              <a:t>関西学院大学　2名</a:t>
            </a:r>
          </a:p>
          <a:p/>
          <a:p>
            <a:r>
              <a:rPr sz="1800" b="1">
                <a:solidFill>
                  <a:srgbClr val="1F3564"/>
                </a:solidFill>
                <a:latin typeface="IPAGothic"/>
              </a:rPr>
              <a:t>明治大学　　　1名</a:t>
            </a:r>
          </a:p>
          <a:p/>
          <a:p>
            <a:r>
              <a:rPr sz="1800" b="1">
                <a:solidFill>
                  <a:srgbClr val="1F3564"/>
                </a:solidFill>
                <a:latin typeface="IPAGothic"/>
              </a:rPr>
              <a:t>同志社大学　　1名</a:t>
            </a:r>
          </a:p>
          <a:p/>
          <a:p>
            <a:r>
              <a:rPr sz="1000" b="0">
                <a:solidFill>
                  <a:srgbClr val="1F3564"/>
                </a:solidFill>
                <a:latin typeface="IPAGothic"/>
              </a:rPr>
              <a:t/>
            </a:r>
          </a:p>
          <a:p/>
          <a:p>
            <a:r>
              <a:rPr sz="1500" b="1">
                <a:solidFill>
                  <a:srgbClr val="E85D5D"/>
                </a:solidFill>
                <a:latin typeface="IPAGothic"/>
              </a:rPr>
              <a:t>【ポイント】</a:t>
            </a:r>
          </a:p>
          <a:p/>
          <a:p>
            <a:r>
              <a:rPr sz="1400" b="0">
                <a:solidFill>
                  <a:srgbClr val="1F3564"/>
                </a:solidFill>
                <a:latin typeface="IPAGothic"/>
              </a:rPr>
              <a:t>・上位校比率：21%
 (4名/19名)</a:t>
            </a:r>
          </a:p>
          <a:p/>
          <a:p>
            <a:r>
              <a:rPr sz="1400" b="0">
                <a:solidFill>
                  <a:srgbClr val="1F3564"/>
                </a:solidFill>
                <a:latin typeface="IPAGothic"/>
              </a:rPr>
              <a:t>・MARCH・関関同立から
  計4名が応募</a:t>
            </a:r>
          </a:p>
          <a:p/>
          <a:p>
            <a:r>
              <a:rPr sz="1400" b="0">
                <a:solidFill>
                  <a:srgbClr val="AAAAAA"/>
                </a:solidFill>
                <a:latin typeface="IPAGothic"/>
              </a:rPr>
              <a:t>・旧帝大・早慶は
  応募なし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PAGothic"/>
              </a:rPr>
              <a:t>上位校　個別大学別　応募者数</a:t>
            </a:r>
          </a:p>
        </p:txBody>
      </p:sp>
      <p:pic>
        <p:nvPicPr>
          <p:cNvPr id="4" name="Picture 3" descr="univ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0" y="1080000"/>
            <a:ext cx="10033200" cy="534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25580" y="1332000"/>
            <a:ext cx="3901824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7AE60"/>
                </a:solidFill>
                <a:latin typeface="IPAGothic"/>
              </a:rPr>
              <a:t>【全員 選考中】</a:t>
            </a:r>
          </a:p>
          <a:p>
            <a:r>
              <a:rPr sz="1400" b="1">
                <a:solidFill>
                  <a:srgbClr val="1F3564"/>
                </a:solidFill>
                <a:latin typeface="IPAGothic"/>
              </a:rPr>
              <a:t>・関西学院大学</a:t>
            </a:r>
          </a:p>
          <a:p>
            <a:r>
              <a:rPr sz="1200" b="0">
                <a:solidFill>
                  <a:srgbClr val="AAAAAA"/>
                </a:solidFill>
                <a:latin typeface="IPAGothic"/>
              </a:rPr>
              <a:t>  経済学部</a:t>
            </a:r>
          </a:p>
          <a:p>
            <a:r>
              <a:rPr sz="1400" b="1">
                <a:solidFill>
                  <a:srgbClr val="1F3564"/>
                </a:solidFill>
                <a:latin typeface="IPAGothic"/>
              </a:rPr>
              <a:t>・関西学院大学</a:t>
            </a:r>
          </a:p>
          <a:p>
            <a:r>
              <a:rPr sz="1200" b="0">
                <a:solidFill>
                  <a:srgbClr val="AAAAAA"/>
                </a:solidFill>
                <a:latin typeface="IPAGothic"/>
              </a:rPr>
              <a:t>  文学部</a:t>
            </a:r>
          </a:p>
          <a:p>
            <a:r>
              <a:rPr sz="1400" b="1">
                <a:solidFill>
                  <a:srgbClr val="1F3564"/>
                </a:solidFill>
                <a:latin typeface="IPAGothic"/>
              </a:rPr>
              <a:t>・明治大学</a:t>
            </a:r>
          </a:p>
          <a:p>
            <a:r>
              <a:rPr sz="1200" b="0">
                <a:solidFill>
                  <a:srgbClr val="AAAAAA"/>
                </a:solidFill>
                <a:latin typeface="IPAGothic"/>
              </a:rPr>
              <a:t>  商学部</a:t>
            </a:r>
          </a:p>
          <a:p>
            <a:r>
              <a:rPr sz="1400" b="1">
                <a:solidFill>
                  <a:srgbClr val="1F3564"/>
                </a:solidFill>
                <a:latin typeface="IPAGothic"/>
              </a:rPr>
              <a:t>・同志社大学</a:t>
            </a:r>
          </a:p>
          <a:p>
            <a:r>
              <a:rPr sz="1200" b="0">
                <a:solidFill>
                  <a:srgbClr val="AAAAAA"/>
                </a:solidFill>
                <a:latin typeface="IPAGothic"/>
              </a:rPr>
              <a:t>  文化情報学部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PAGothic"/>
              </a:rPr>
              <a:t>選考ステータス内訳（全応募者）</a:t>
            </a:r>
          </a:p>
        </p:txBody>
      </p:sp>
      <p:pic>
        <p:nvPicPr>
          <p:cNvPr id="4" name="Picture 3" descr="status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972000"/>
            <a:ext cx="5486940" cy="55260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40464.0" y="972000"/>
          <a:ext cx="5486940" cy="552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817"/>
                <a:gridCol w="823041"/>
                <a:gridCol w="1646082"/>
              </a:tblGrid>
              <a:tr h="614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大学名</a:t>
                      </a:r>
                    </a:p>
                  </a:txBody>
                  <a:tcPr>
                    <a:solidFill>
                      <a:srgbClr val="1F3564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上位校</a:t>
                      </a:r>
                    </a:p>
                  </a:txBody>
                  <a:tcPr>
                    <a:solidFill>
                      <a:srgbClr val="1F3564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ステータス</a:t>
                      </a:r>
                    </a:p>
                  </a:txBody>
                  <a:tcPr>
                    <a:solidFill>
                      <a:srgbClr val="1F3564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  <a:tr h="6140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関西学院大学(×2)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5A623"/>
                          </a:solidFill>
                          <a:latin typeface="IPAGothic"/>
                        </a:rPr>
                        <a:t>★</a:t>
                      </a:r>
                    </a:p>
                  </a:txBody>
                  <a:tcPr>
                    <a:solidFill>
                      <a:srgbClr val="FFFBEE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選考中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  <a:tr h="6140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明治大学</a:t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5A623"/>
                          </a:solidFill>
                          <a:latin typeface="IPAGothic"/>
                        </a:rPr>
                        <a:t>★</a:t>
                      </a:r>
                    </a:p>
                  </a:txBody>
                  <a:tcPr>
                    <a:solidFill>
                      <a:srgbClr val="FFFBEE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選考中</a:t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  <a:tr h="6140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同志社大学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5A623"/>
                          </a:solidFill>
                          <a:latin typeface="IPAGothic"/>
                        </a:rPr>
                        <a:t>★</a:t>
                      </a:r>
                    </a:p>
                  </a:txBody>
                  <a:tcPr>
                    <a:solidFill>
                      <a:srgbClr val="FFFBEE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選考中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  <a:tr h="6140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駒澤大学</a:t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E85D5D"/>
                          </a:solidFill>
                          <a:latin typeface="IPAGothic"/>
                        </a:rPr>
                        <a:t>辞退</a:t>
                      </a:r>
                    </a:p>
                  </a:txBody>
                  <a:tcPr>
                    <a:solidFill>
                      <a:srgbClr val="FF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  <a:tr h="6140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専修大学(×2)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選考中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  <a:tr h="6140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神奈川大学(×2)</a:t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選考中</a:t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  <a:tr h="6140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日本大学(×2)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選考中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  <a:tr h="6140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その他</a:t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選考中（計10名）</a:t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PAGothic"/>
              </a:rPr>
              <a:t>辞退分析：理由・タイミング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08000"/>
            <a:ext cx="114732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85D5D"/>
                </a:solidFill>
                <a:latin typeface="IPAGothic"/>
              </a:rPr>
              <a:t>※ 集計期間中の辞退者：1名（説明会実施前辞退）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0000" y="1440000"/>
          <a:ext cx="12060000" cy="12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620000"/>
                <a:gridCol w="2340000"/>
                <a:gridCol w="6120000"/>
              </a:tblGrid>
              <a:tr h="63000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IPAGothic"/>
                        </a:rPr>
                        <a:t>ステップ</a:t>
                      </a:r>
                    </a:p>
                  </a:txBody>
                  <a:tcPr>
                    <a:solidFill>
                      <a:srgbClr val="1F3564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IPAGothic"/>
                        </a:rPr>
                        <a:t>辞退タイミング</a:t>
                      </a:r>
                    </a:p>
                  </a:txBody>
                  <a:tcPr>
                    <a:solidFill>
                      <a:srgbClr val="1F3564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IPAGothic"/>
                        </a:rPr>
                        <a:t>辞退理由分類</a:t>
                      </a:r>
                    </a:p>
                  </a:txBody>
                  <a:tcPr>
                    <a:solidFill>
                      <a:srgbClr val="1F3564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IPAGothic"/>
                        </a:rPr>
                        <a:t>辞退理由詳細</a:t>
                      </a:r>
                    </a:p>
                  </a:txBody>
                  <a:tcPr>
                    <a:solidFill>
                      <a:srgbClr val="1F3564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Gothic"/>
                        </a:rPr>
                        <a:t>説明会兼WEB選考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Gothic"/>
                        </a:rPr>
                        <a:t>実施前辞退</a:t>
                      </a:r>
                    </a:p>
                  </a:txBody>
                  <a:tcPr>
                    <a:solidFill>
                      <a:srgbClr val="FF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Gothic"/>
                        </a:rPr>
                        <a:t>働き方・制度・カルチャー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Gothic"/>
                        </a:rPr>
                        <a:t>会社説明会前：自身の軸と合わないと感じたため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180000" y="2952000"/>
            <a:ext cx="3776400" cy="376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2000" y="3024000"/>
            <a:ext cx="3632401" cy="36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3564"/>
                </a:solidFill>
                <a:latin typeface="IPAGothic"/>
              </a:rPr>
              <a:t>説明会兼WEB選考</a:t>
            </a:r>
          </a:p>
          <a:p>
            <a:pPr algn="ctr"/>
            <a:r>
              <a:rPr sz="1700" b="1">
                <a:solidFill>
                  <a:srgbClr val="E85D5D"/>
                </a:solidFill>
                <a:latin typeface="IPAGothic"/>
              </a:rPr>
              <a:t>実施前辞退：1名</a:t>
            </a:r>
          </a:p>
          <a:p>
            <a:pPr algn="ctr"/>
            <a:r>
              <a:rPr sz="1700" b="1">
                <a:solidFill>
                  <a:srgbClr val="AAAAAA"/>
                </a:solidFill>
                <a:latin typeface="IPAGothic"/>
              </a:rPr>
              <a:t>実施後辞退：0名</a:t>
            </a:r>
          </a:p>
          <a:p>
            <a:pPr algn="l"/>
            <a:r>
              <a:rPr sz="1200" b="0">
                <a:solidFill>
                  <a:srgbClr val="555555"/>
                </a:solidFill>
                <a:latin typeface="IPAGothic"/>
              </a:rPr>
              <a:t>選考前離脱。
説明会後は辞退なし。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4400" y="2952000"/>
            <a:ext cx="3776400" cy="376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36400" y="3024000"/>
            <a:ext cx="3632401" cy="36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3564"/>
                </a:solidFill>
                <a:latin typeface="IPAGothic"/>
              </a:rPr>
              <a:t>一次選考(WEB)</a:t>
            </a:r>
          </a:p>
          <a:p>
            <a:pPr algn="ctr"/>
            <a:r>
              <a:rPr sz="1700" b="1">
                <a:solidFill>
                  <a:srgbClr val="AAAAAA"/>
                </a:solidFill>
                <a:latin typeface="IPAGothic"/>
              </a:rPr>
              <a:t>実施前辞退：0名</a:t>
            </a:r>
          </a:p>
          <a:p>
            <a:pPr algn="ctr"/>
            <a:r>
              <a:rPr sz="1700" b="1">
                <a:solidFill>
                  <a:srgbClr val="AAAAAA"/>
                </a:solidFill>
                <a:latin typeface="IPAGothic"/>
              </a:rPr>
              <a:t>実施後辞退：0名</a:t>
            </a:r>
          </a:p>
          <a:p>
            <a:pPr algn="l"/>
            <a:r>
              <a:rPr sz="1200" b="0">
                <a:solidFill>
                  <a:srgbClr val="555555"/>
                </a:solidFill>
                <a:latin typeface="IPAGothic"/>
              </a:rPr>
              <a:t>未実施（選考前フェーズ）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48800" y="2952000"/>
            <a:ext cx="3776400" cy="376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0800" y="3024000"/>
            <a:ext cx="3632401" cy="36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3564"/>
                </a:solidFill>
                <a:latin typeface="IPAGothic"/>
              </a:rPr>
              <a:t>最終選考(対面)</a:t>
            </a:r>
          </a:p>
          <a:p>
            <a:pPr algn="ctr"/>
            <a:r>
              <a:rPr sz="1700" b="1">
                <a:solidFill>
                  <a:srgbClr val="AAAAAA"/>
                </a:solidFill>
                <a:latin typeface="IPAGothic"/>
              </a:rPr>
              <a:t>実施前辞退：0名</a:t>
            </a:r>
          </a:p>
          <a:p>
            <a:pPr algn="ctr"/>
            <a:r>
              <a:rPr sz="1700" b="1">
                <a:solidFill>
                  <a:srgbClr val="AAAAAA"/>
                </a:solidFill>
                <a:latin typeface="IPAGothic"/>
              </a:rPr>
              <a:t>実施後辞退：0名</a:t>
            </a:r>
          </a:p>
          <a:p>
            <a:pPr algn="l"/>
            <a:r>
              <a:rPr sz="1200" b="0">
                <a:solidFill>
                  <a:srgbClr val="555555"/>
                </a:solidFill>
                <a:latin typeface="IPAGothic"/>
              </a:rPr>
              <a:t>未実施（選考前フェーズ）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PAGothic"/>
              </a:rPr>
              <a:t>エージェント（人材紹介会社）別　応募状況</a:t>
            </a:r>
          </a:p>
        </p:txBody>
      </p:sp>
      <p:pic>
        <p:nvPicPr>
          <p:cNvPr id="4" name="Picture 3" descr="agency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972000"/>
            <a:ext cx="6706260" cy="55260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28192.000000001" y="1008000"/>
          <a:ext cx="5121141" cy="552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8457"/>
                <a:gridCol w="768171"/>
                <a:gridCol w="768171"/>
                <a:gridCol w="768171"/>
                <a:gridCol w="768171"/>
              </a:tblGrid>
              <a:tr h="11052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エージェント企業名</a:t>
                      </a:r>
                    </a:p>
                  </a:txBody>
                  <a:tcPr>
                    <a:solidFill>
                      <a:srgbClr val="1F3564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紹介数</a:t>
                      </a:r>
                    </a:p>
                  </a:txBody>
                  <a:tcPr>
                    <a:solidFill>
                      <a:srgbClr val="1F3564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選考中</a:t>
                      </a:r>
                    </a:p>
                  </a:txBody>
                  <a:tcPr>
                    <a:solidFill>
                      <a:srgbClr val="1F3564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辞退</a:t>
                      </a:r>
                    </a:p>
                  </a:txBody>
                  <a:tcPr>
                    <a:solidFill>
                      <a:srgbClr val="1F3564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辞退率</a:t>
                      </a:r>
                    </a:p>
                  </a:txBody>
                  <a:tcPr>
                    <a:solidFill>
                      <a:srgbClr val="1F3564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  <a:tr h="1105200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3564"/>
                          </a:solidFill>
                          <a:latin typeface="IPAGothic"/>
                        </a:rPr>
                        <a:t>レバレジーズ株式会社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3564"/>
                          </a:solidFill>
                          <a:latin typeface="IPAGothic"/>
                        </a:rPr>
                        <a:t>16名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3564"/>
                          </a:solidFill>
                          <a:latin typeface="IPAGothic"/>
                        </a:rPr>
                        <a:t>15名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E85D5D"/>
                          </a:solidFill>
                          <a:latin typeface="IPAGothic"/>
                        </a:rPr>
                        <a:t>1名</a:t>
                      </a:r>
                    </a:p>
                  </a:txBody>
                  <a:tcPr>
                    <a:solidFill>
                      <a:srgbClr val="FF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3564"/>
                          </a:solidFill>
                          <a:latin typeface="IPAGothic"/>
                        </a:rPr>
                        <a:t>6.3%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  <a:tr h="1105200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3564"/>
                          </a:solidFill>
                          <a:latin typeface="IPAGothic"/>
                        </a:rPr>
                        <a:t>キャリアスタート株式会社</a:t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3564"/>
                          </a:solidFill>
                          <a:latin typeface="IPAGothic"/>
                        </a:rPr>
                        <a:t>2名</a:t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3564"/>
                          </a:solidFill>
                          <a:latin typeface="IPAGothic"/>
                        </a:rPr>
                        <a:t>2名</a:t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AAAAAA"/>
                          </a:solidFill>
                          <a:latin typeface="IPAGothic"/>
                        </a:rPr>
                        <a:t>0名</a:t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AAAAAA"/>
                          </a:solidFill>
                          <a:latin typeface="IPAGothic"/>
                        </a:rPr>
                        <a:t>0.0%</a:t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  <a:tr h="1105200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3564"/>
                          </a:solidFill>
                          <a:latin typeface="IPAGothic"/>
                        </a:rPr>
                        <a:t>株式会社キャリタス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3564"/>
                          </a:solidFill>
                          <a:latin typeface="IPAGothic"/>
                        </a:rPr>
                        <a:t>1名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3564"/>
                          </a:solidFill>
                          <a:latin typeface="IPAGothic"/>
                        </a:rPr>
                        <a:t>1名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AAAAAA"/>
                          </a:solidFill>
                          <a:latin typeface="IPAGothic"/>
                        </a:rPr>
                        <a:t>0名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AAAAAA"/>
                          </a:solidFill>
                          <a:latin typeface="IPAGothic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  <a:tr h="110520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3564"/>
                          </a:solidFill>
                          <a:latin typeface="IPAGothic"/>
                        </a:rPr>
                        <a:t>合計</a:t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3564"/>
                          </a:solidFill>
                          <a:latin typeface="IPAGothic"/>
                        </a:rPr>
                        <a:t>19名</a:t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3564"/>
                          </a:solidFill>
                          <a:latin typeface="IPAGothic"/>
                        </a:rPr>
                        <a:t>18名</a:t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3564"/>
                          </a:solidFill>
                          <a:latin typeface="IPAGothic"/>
                        </a:rPr>
                        <a:t>1名</a:t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3564"/>
                          </a:solidFill>
                          <a:latin typeface="IPAGothic"/>
                        </a:rPr>
                        <a:t>5.3%</a:t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