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06340"/>
            <a:ext cx="12193200" cy="1851660"/>
          </a:xfrm>
          <a:prstGeom prst="rect">
            <a:avLst/>
          </a:prstGeom>
          <a:solidFill>
            <a:srgbClr val="276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260000"/>
            <a:ext cx="107532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IPAゴシック"/>
              </a:rPr>
              <a:t>上位校 採用選考 進捗レポート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753200" cy="503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CCDDFF"/>
                </a:solidFill>
                <a:latin typeface="IPAゴシック"/>
              </a:rPr>
              <a:t>対象期間：2026年1月〜7月　GMARCH・関関同立以上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060000"/>
            <a:ext cx="107532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AACCFF"/>
                </a:solidFill>
                <a:latin typeface="IPAゴシック"/>
              </a:rPr>
              <a:t>集計日：2026年7月2日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3780000"/>
            <a:ext cx="2724300" cy="2088000"/>
          </a:xfrm>
          <a:prstGeom prst="rect">
            <a:avLst/>
          </a:prstGeom>
          <a:solidFill>
            <a:srgbClr val="0D1E45"/>
          </a:solidFill>
          <a:ln w="19050">
            <a:solidFill>
              <a:srgbClr val="276C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3888000"/>
            <a:ext cx="25803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BBFF"/>
                </a:solidFill>
                <a:latin typeface="IPAゴシック"/>
              </a:rPr>
              <a:t>総応募者</a:t>
            </a:r>
          </a:p>
          <a:p>
            <a:pPr algn="ctr"/>
            <a:r>
              <a:rPr sz="3400" b="1">
                <a:solidFill>
                  <a:srgbClr val="FFFFFF"/>
                </a:solidFill>
                <a:latin typeface="IPAゴシック"/>
              </a:rPr>
              <a:t>19名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全大学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8300" y="3780000"/>
            <a:ext cx="2724300" cy="2088000"/>
          </a:xfrm>
          <a:prstGeom prst="rect">
            <a:avLst/>
          </a:prstGeom>
          <a:solidFill>
            <a:srgbClr val="0D1E4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6300" y="3888000"/>
            <a:ext cx="25803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BBFF"/>
                </a:solidFill>
                <a:latin typeface="IPAゴシック"/>
              </a:rPr>
              <a:t>上位校</a:t>
            </a:r>
          </a:p>
          <a:p>
            <a:pPr algn="ctr"/>
            <a:r>
              <a:rPr sz="3400" b="1">
                <a:solidFill>
                  <a:srgbClr val="FFFFFF"/>
                </a:solidFill>
                <a:latin typeface="IPAゴシック"/>
              </a:rPr>
              <a:t>4名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GMARCH・関関同立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600" y="3780000"/>
            <a:ext cx="2724300" cy="2088000"/>
          </a:xfrm>
          <a:prstGeom prst="rect">
            <a:avLst/>
          </a:prstGeom>
          <a:solidFill>
            <a:srgbClr val="0D1E45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4600" y="3888000"/>
            <a:ext cx="25803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BBFF"/>
                </a:solidFill>
                <a:latin typeface="IPAゴシック"/>
              </a:rPr>
              <a:t>選考中</a:t>
            </a:r>
          </a:p>
          <a:p>
            <a:pPr algn="ctr"/>
            <a:r>
              <a:rPr sz="3400" b="1">
                <a:solidFill>
                  <a:srgbClr val="FFFFFF"/>
                </a:solidFill>
                <a:latin typeface="IPAゴシック"/>
              </a:rPr>
              <a:t>18名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説明会WEB選考中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4900" y="3780000"/>
            <a:ext cx="2724300" cy="2088000"/>
          </a:xfrm>
          <a:prstGeom prst="rect">
            <a:avLst/>
          </a:prstGeom>
          <a:solidFill>
            <a:srgbClr val="0D1E45"/>
          </a:solidFill>
          <a:ln w="19050">
            <a:solidFill>
              <a:srgbClr val="E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2900" y="3888000"/>
            <a:ext cx="25803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9BBFF"/>
                </a:solidFill>
                <a:latin typeface="IPAゴシック"/>
              </a:rPr>
              <a:t>辞退</a:t>
            </a:r>
          </a:p>
          <a:p>
            <a:pPr algn="ctr"/>
            <a:r>
              <a:rPr sz="3400" b="1">
                <a:solidFill>
                  <a:srgbClr val="FFFFFF"/>
                </a:solidFill>
                <a:latin typeface="IPAゴシック"/>
              </a:rPr>
              <a:t>1名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説明会前辞退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PAゴシック"/>
              </a:rPr>
              <a:t>サマリー：上位校　選考進捗（2026年1〜7月）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0000" y="936000"/>
            <a:ext cx="2868300" cy="136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000" y="1044000"/>
            <a:ext cx="27243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AE60"/>
                </a:solidFill>
                <a:latin typeface="IPAゴシック"/>
              </a:rPr>
              <a:t>上位校応募者数</a:t>
            </a:r>
          </a:p>
          <a:p>
            <a:pPr algn="ctr"/>
            <a:r>
              <a:rPr sz="3000" b="1">
                <a:solidFill>
                  <a:srgbClr val="1F3564"/>
                </a:solidFill>
                <a:latin typeface="IPAゴシック"/>
              </a:rPr>
              <a:t>4名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関関同立2・MARCH2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0300" y="936000"/>
            <a:ext cx="2868300" cy="136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1F3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92300" y="1044000"/>
            <a:ext cx="27243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564"/>
                </a:solidFill>
                <a:latin typeface="IPAゴシック"/>
              </a:rPr>
              <a:t>全体応募者数</a:t>
            </a:r>
          </a:p>
          <a:p>
            <a:pPr algn="ctr"/>
            <a:r>
              <a:rPr sz="3000" b="1">
                <a:solidFill>
                  <a:srgbClr val="1F3564"/>
                </a:solidFill>
                <a:latin typeface="IPAゴシック"/>
              </a:rPr>
              <a:t>19名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全応募</a:t>
            </a:r>
          </a:p>
        </p:txBody>
      </p:sp>
      <p:sp>
        <p:nvSpPr>
          <p:cNvPr id="9" name="Rectangle 8"/>
          <p:cNvSpPr/>
          <p:nvPr/>
        </p:nvSpPr>
        <p:spPr>
          <a:xfrm>
            <a:off x="6060600" y="936000"/>
            <a:ext cx="2868300" cy="136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2600" y="1044000"/>
            <a:ext cx="27243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IPAゴシック"/>
              </a:rPr>
              <a:t>現在選考中</a:t>
            </a:r>
          </a:p>
          <a:p>
            <a:pPr algn="ctr"/>
            <a:r>
              <a:rPr sz="3000" b="1">
                <a:solidFill>
                  <a:srgbClr val="1F3564"/>
                </a:solidFill>
                <a:latin typeface="IPAゴシック"/>
              </a:rPr>
              <a:t>18名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説明会WEB選考中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900" y="936000"/>
            <a:ext cx="2868300" cy="13680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2900" y="1044000"/>
            <a:ext cx="27243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5D5D"/>
                </a:solidFill>
                <a:latin typeface="IPAゴシック"/>
              </a:rPr>
              <a:t>辞退</a:t>
            </a:r>
          </a:p>
          <a:p>
            <a:pPr algn="ctr"/>
            <a:r>
              <a:rPr sz="3000" b="1">
                <a:solidFill>
                  <a:srgbClr val="1F3564"/>
                </a:solidFill>
                <a:latin typeface="IPAゴシック"/>
              </a:rPr>
              <a:t>1名</a:t>
            </a:r>
          </a:p>
          <a:p>
            <a:pPr algn="ctr"/>
            <a:r>
              <a:rPr sz="1100" b="0">
                <a:solidFill>
                  <a:srgbClr val="AAAAAA"/>
                </a:solidFill>
                <a:latin typeface="IPAゴシック"/>
              </a:rPr>
              <a:t>説明会実施前辞退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44000" y="2412000"/>
          <a:ext cx="9540000" cy="4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864000"/>
                <a:gridCol w="864000"/>
                <a:gridCol w="1152000"/>
                <a:gridCol w="1152000"/>
                <a:gridCol w="864000"/>
                <a:gridCol w="864000"/>
                <a:gridCol w="1800000"/>
              </a:tblGrid>
              <a:tr h="860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選考ステップ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対象者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辞退(実施前)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辞退(実施後)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通過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不合格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備考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</a:tr>
              <a:tr h="860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  <a:latin typeface="IPAゴシック"/>
                        </a:rPr>
                        <a:t>説明会兼WEB選考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19名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7AE60"/>
                          </a:solidFill>
                          <a:latin typeface="IPAゴシック"/>
                        </a:rPr>
                        <a:t>18名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E85D5D"/>
                          </a:solidFill>
                          <a:latin typeface="IPAゴシック"/>
                        </a:rPr>
                        <a:t>1名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0名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選考開始段階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0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  <a:latin typeface="IPAゴシック"/>
                        </a:rPr>
                        <a:t>一次選考(WEB)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未実施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  <a:tr h="860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  <a:latin typeface="IPAゴシック"/>
                        </a:rPr>
                        <a:t>二次選考(WEBor対面)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未実施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04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564"/>
                          </a:solidFill>
                          <a:latin typeface="IPAゴシック"/>
                        </a:rPr>
                        <a:t>最終選考(対面)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IPAゴシック"/>
                        </a:rPr>
                        <a:t>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未実施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PAゴシック"/>
              </a:rPr>
              <a:t>選考ファネル：全体応募〜現在の選考状況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864000"/>
            <a:ext cx="1183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E85D5D"/>
                </a:solidFill>
                <a:latin typeface="IPAゴシック"/>
              </a:rPr>
              <a:t>※ 現在ほぼ全員が説明会兼WEB選考の選考中フェーズ（2026年1〜7月集計）</a:t>
            </a:r>
          </a:p>
        </p:txBody>
      </p:sp>
      <p:pic>
        <p:nvPicPr>
          <p:cNvPr id="6" name="Picture 5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224000"/>
            <a:ext cx="10753200" cy="541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PAゴシック"/>
              </a:rPr>
              <a:t>大学グループ別　応募者数</a:t>
            </a:r>
          </a:p>
        </p:txBody>
      </p:sp>
      <p:pic>
        <p:nvPicPr>
          <p:cNvPr id="5" name="Picture 4" descr="group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936000"/>
            <a:ext cx="7072055" cy="563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920" y="1080000"/>
            <a:ext cx="4511484" cy="534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564"/>
                </a:solidFill>
                <a:latin typeface="IPAゴシック"/>
              </a:rPr>
              <a:t>【上位校内訳】</a:t>
            </a:r>
          </a:p>
          <a:p>
            <a:r>
              <a:rPr sz="1800" b="1">
                <a:solidFill>
                  <a:srgbClr val="1F3564"/>
                </a:solidFill>
                <a:latin typeface="IPAゴシック"/>
              </a:rPr>
              <a:t>関西学院大学　2名</a:t>
            </a:r>
          </a:p>
          <a:p>
            <a:r>
              <a:rPr sz="1800" b="1">
                <a:solidFill>
                  <a:srgbClr val="1F3564"/>
                </a:solidFill>
                <a:latin typeface="IPAゴシック"/>
              </a:rPr>
              <a:t>明治大学　　　1名</a:t>
            </a:r>
          </a:p>
          <a:p>
            <a:r>
              <a:rPr sz="1800" b="1">
                <a:solidFill>
                  <a:srgbClr val="1F3564"/>
                </a:solidFill>
                <a:latin typeface="IPAゴシック"/>
              </a:rPr>
              <a:t>同志社大学　　1名</a:t>
            </a:r>
          </a:p>
          <a:p>
            <a:r>
              <a:rPr sz="600" b="0">
                <a:solidFill>
                  <a:srgbClr val="1F3564"/>
                </a:solidFill>
                <a:latin typeface="IPAゴシック"/>
              </a:rPr>
              <a:t/>
            </a:r>
          </a:p>
          <a:p>
            <a:r>
              <a:rPr sz="1400" b="1">
                <a:solidFill>
                  <a:srgbClr val="E85D5D"/>
                </a:solidFill>
                <a:latin typeface="IPAゴシック"/>
              </a:rPr>
              <a:t>【ポイント】</a:t>
            </a:r>
          </a:p>
          <a:p>
            <a:r>
              <a:rPr sz="1300" b="0">
                <a:solidFill>
                  <a:srgbClr val="1F3564"/>
                </a:solidFill>
                <a:latin typeface="IPAゴシック"/>
              </a:rPr>
              <a:t>・上位校比率：21%（4名/19名）</a:t>
            </a:r>
          </a:p>
          <a:p>
            <a:r>
              <a:rPr sz="1300" b="0">
                <a:solidFill>
                  <a:srgbClr val="AAAAAA"/>
                </a:solidFill>
                <a:latin typeface="IPAゴシック"/>
              </a:rPr>
              <a:t>・旧帝大・早慶は応募なし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PAゴシック"/>
              </a:rPr>
              <a:t>上位校　個別大学別　応募者数</a:t>
            </a:r>
          </a:p>
        </p:txBody>
      </p:sp>
      <p:pic>
        <p:nvPicPr>
          <p:cNvPr id="5" name="Picture 4" descr="univ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080000"/>
            <a:ext cx="6706260" cy="54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93988" y="1224000"/>
            <a:ext cx="4633416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7AE60"/>
                </a:solidFill>
                <a:latin typeface="IPAゴシック"/>
              </a:rPr>
              <a:t>【全員 選考中】</a:t>
            </a:r>
          </a:p>
          <a:p>
            <a:r>
              <a:rPr sz="1400" b="1">
                <a:solidFill>
                  <a:srgbClr val="1F3564"/>
                </a:solidFill>
                <a:latin typeface="IPAゴシック"/>
              </a:rPr>
              <a:t>関西学院大学（経済学部）</a:t>
            </a:r>
          </a:p>
          <a:p>
            <a:r>
              <a:rPr sz="1400" b="1">
                <a:solidFill>
                  <a:srgbClr val="1F3564"/>
                </a:solidFill>
                <a:latin typeface="IPAゴシック"/>
              </a:rPr>
              <a:t>関西学院大学（文学部）</a:t>
            </a:r>
          </a:p>
          <a:p>
            <a:r>
              <a:rPr sz="1400" b="1">
                <a:solidFill>
                  <a:srgbClr val="1F3564"/>
                </a:solidFill>
                <a:latin typeface="IPAゴシック"/>
              </a:rPr>
              <a:t>明治大学（商学部）</a:t>
            </a:r>
          </a:p>
          <a:p>
            <a:r>
              <a:rPr sz="1400" b="1">
                <a:solidFill>
                  <a:srgbClr val="1F3564"/>
                </a:solidFill>
                <a:latin typeface="IPAゴシック"/>
              </a:rPr>
              <a:t>同志社大学（文化情報学部）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PAゴシック"/>
              </a:rPr>
              <a:t>選考ステータス内訳（全応募者）</a:t>
            </a:r>
          </a:p>
        </p:txBody>
      </p:sp>
      <p:pic>
        <p:nvPicPr>
          <p:cNvPr id="5" name="Picture 4" descr="status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64000"/>
            <a:ext cx="5365008" cy="5706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30804" y="936000"/>
          <a:ext cx="6096600" cy="570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3130"/>
                <a:gridCol w="914490"/>
                <a:gridCol w="1828980"/>
              </a:tblGrid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大学名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上位校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ステータス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</a:tr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関西学院大学(×2)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A623"/>
                          </a:solidFill>
                          <a:latin typeface="IPAゴシック"/>
                        </a:rPr>
                        <a:t>★</a:t>
                      </a:r>
                    </a:p>
                  </a:txBody>
                  <a:tcPr>
                    <a:solidFill>
                      <a:srgbClr val="FFF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明治大学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A623"/>
                          </a:solidFill>
                          <a:latin typeface="IPAゴシック"/>
                        </a:rPr>
                        <a:t>★</a:t>
                      </a:r>
                    </a:p>
                  </a:txBody>
                  <a:tcPr>
                    <a:solidFill>
                      <a:srgbClr val="FFF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同志社大学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5A623"/>
                          </a:solidFill>
                          <a:latin typeface="IPAゴシック"/>
                        </a:rPr>
                        <a:t>★</a:t>
                      </a:r>
                    </a:p>
                  </a:txBody>
                  <a:tcPr>
                    <a:solidFill>
                      <a:srgbClr val="FFF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駒澤大学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/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85D5D"/>
                          </a:solidFill>
                          <a:latin typeface="IPAゴシック"/>
                        </a:rPr>
                        <a:t>辞退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</a:tr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専修大学(×2)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神奈川大学(×2)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/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日本大学(×2)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4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その他（計10名）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/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PAゴシック"/>
              </a:rPr>
              <a:t>辞退分析：理由・タイミング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36000"/>
            <a:ext cx="114732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85D5D"/>
                </a:solidFill>
                <a:latin typeface="IPAゴシック"/>
              </a:rPr>
              <a:t>辞退者：1名（説明会実施前辞退）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4000" y="1332000"/>
          <a:ext cx="118332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440000"/>
                <a:gridCol w="2340000"/>
                <a:gridCol w="6253200"/>
              </a:tblGrid>
              <a:tr h="576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ステップ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辞退タイミング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辞退理由分類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辞退理由詳細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説明会兼WEB選考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85D5D"/>
                          </a:solidFill>
                          <a:latin typeface="IPAゴシック"/>
                        </a:rPr>
                        <a:t>実施前辞退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働き方・制度・カルチャー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3564"/>
                          </a:solidFill>
                          <a:latin typeface="IPAゴシック"/>
                        </a:rPr>
                        <a:t>会社説明会前：自身の軸と合わないと感じたため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44000" y="2700000"/>
            <a:ext cx="3812400" cy="4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2000" y="2808000"/>
            <a:ext cx="3632401" cy="390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564"/>
                </a:solidFill>
                <a:latin typeface="IPAゴシック"/>
              </a:rPr>
              <a:t>説明会兼WEB選考</a:t>
            </a:r>
          </a:p>
          <a:p>
            <a:pPr algn="ctr"/>
            <a:r>
              <a:rPr sz="1700" b="1">
                <a:solidFill>
                  <a:srgbClr val="E85D5D"/>
                </a:solidFill>
                <a:latin typeface="IPAゴシック"/>
              </a:rPr>
              <a:t>実施前辞退：1名</a:t>
            </a:r>
          </a:p>
          <a:p>
            <a:pPr algn="ctr"/>
            <a:r>
              <a:rPr sz="1700" b="1">
                <a:solidFill>
                  <a:srgbClr val="AAAAAA"/>
                </a:solidFill>
                <a:latin typeface="IPAゴシック"/>
              </a:rPr>
              <a:t>実施後辞退：0名</a:t>
            </a:r>
          </a:p>
          <a:p>
            <a:r>
              <a:rPr sz="1100" b="0">
                <a:solidFill>
                  <a:srgbClr val="555555"/>
                </a:solidFill>
                <a:latin typeface="IPAゴシック"/>
              </a:rPr>
              <a:t>説明会前の離脱
参加後の辞退はなし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8400" y="2700000"/>
            <a:ext cx="3812400" cy="4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6400" y="2808000"/>
            <a:ext cx="3632401" cy="390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564"/>
                </a:solidFill>
                <a:latin typeface="IPAゴシック"/>
              </a:rPr>
              <a:t>一次選考(WEB)</a:t>
            </a:r>
          </a:p>
          <a:p>
            <a:pPr algn="ctr"/>
            <a:r>
              <a:rPr sz="1700" b="1">
                <a:solidFill>
                  <a:srgbClr val="AAAAAA"/>
                </a:solidFill>
                <a:latin typeface="IPAゴシック"/>
              </a:rPr>
              <a:t>実施前辞退：0名</a:t>
            </a:r>
          </a:p>
          <a:p>
            <a:pPr algn="ctr"/>
            <a:r>
              <a:rPr sz="1700" b="1">
                <a:solidFill>
                  <a:srgbClr val="AAAAAA"/>
                </a:solidFill>
                <a:latin typeface="IPAゴシック"/>
              </a:rPr>
              <a:t>実施後辞退：0名</a:t>
            </a:r>
          </a:p>
          <a:p>
            <a:r>
              <a:rPr sz="1100" b="0">
                <a:solidFill>
                  <a:srgbClr val="555555"/>
                </a:solidFill>
                <a:latin typeface="IPAゴシック"/>
              </a:rPr>
              <a:t>未実施（選考前フェーズ）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2800" y="2700000"/>
            <a:ext cx="3812400" cy="40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0800" y="2808000"/>
            <a:ext cx="3632401" cy="390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564"/>
                </a:solidFill>
                <a:latin typeface="IPAゴシック"/>
              </a:rPr>
              <a:t>最終選考(対面)</a:t>
            </a:r>
          </a:p>
          <a:p>
            <a:pPr algn="ctr"/>
            <a:r>
              <a:rPr sz="1700" b="1">
                <a:solidFill>
                  <a:srgbClr val="AAAAAA"/>
                </a:solidFill>
                <a:latin typeface="IPAゴシック"/>
              </a:rPr>
              <a:t>実施前辞退：0名</a:t>
            </a:r>
          </a:p>
          <a:p>
            <a:pPr algn="ctr"/>
            <a:r>
              <a:rPr sz="1700" b="1">
                <a:solidFill>
                  <a:srgbClr val="AAAAAA"/>
                </a:solidFill>
                <a:latin typeface="IPAゴシック"/>
              </a:rPr>
              <a:t>実施後辞退：0名</a:t>
            </a:r>
          </a:p>
          <a:p>
            <a:r>
              <a:rPr sz="1100" b="0">
                <a:solidFill>
                  <a:srgbClr val="555555"/>
                </a:solidFill>
                <a:latin typeface="IPAゴシック"/>
              </a:rPr>
              <a:t>未実施（選考前フェーズ）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792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0"/>
            <a:ext cx="11833200" cy="7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IPAゴシック"/>
              </a:rPr>
              <a:t>エージェント（人材紹介会社）別　応募状況</a:t>
            </a:r>
          </a:p>
        </p:txBody>
      </p:sp>
      <p:pic>
        <p:nvPicPr>
          <p:cNvPr id="5" name="Picture 4" descr="agenc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936000"/>
            <a:ext cx="6584328" cy="56340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06260" y="972000"/>
          <a:ext cx="5243073" cy="56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091"/>
                <a:gridCol w="786461"/>
                <a:gridCol w="786461"/>
                <a:gridCol w="681599"/>
                <a:gridCol w="786461"/>
              </a:tblGrid>
              <a:tr h="11268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エージェント企業名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紹介数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選考中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辞退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PAゴシック"/>
                        </a:rPr>
                        <a:t>辞退率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</a:tr>
              <a:tr h="11268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レバレジーズ株式会社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16名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15名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E85D5D"/>
                          </a:solidFill>
                          <a:latin typeface="IPAゴシック"/>
                        </a:rPr>
                        <a:t>1名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68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キャリアスタート株式会社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2名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2名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AAAAAA"/>
                          </a:solidFill>
                          <a:latin typeface="IPAゴシック"/>
                        </a:rPr>
                        <a:t>0名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AAAAAA"/>
                          </a:solidFill>
                          <a:latin typeface="IPAゴシック"/>
                        </a:rPr>
                        <a:t>0.0%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  <a:tr h="112680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株式会社キャリタス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1名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F3564"/>
                          </a:solidFill>
                          <a:latin typeface="IPAゴシック"/>
                        </a:rPr>
                        <a:t>1名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AAAAAA"/>
                          </a:solidFill>
                          <a:latin typeface="IPAゴシック"/>
                        </a:rPr>
                        <a:t>0名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AAAAAA"/>
                          </a:solidFill>
                          <a:latin typeface="IPAゴシック"/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268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合計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19名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18名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1名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564"/>
                          </a:solidFill>
                          <a:latin typeface="IPAゴシック"/>
                        </a:rPr>
                        <a:t>5.3%</a:t>
                      </a:r>
                    </a:p>
                  </a:txBody>
                  <a:tcPr>
                    <a:solidFill>
                      <a:srgbClr val="EC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