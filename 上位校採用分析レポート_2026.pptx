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0" y="109728"/>
            <a:ext cx="3502152" cy="6638544"/>
          </a:xfrm>
          <a:prstGeom prst="rect">
            <a:avLst/>
          </a:prstGeom>
          <a:solidFill>
            <a:srgbClr val="1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IPAGothic"/>
              </a:rPr>
              <a:t>上位校　採用選考分析レポート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9A227"/>
                </a:solidFill>
                <a:latin typeface="IPAGothic"/>
              </a:rPr>
              <a:t>応募〜最終選考通過　ファネル分析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対象：GMARCH以上の偏差値を有する大学出身者
（旧帝大・早慶・上智・理科大・ICU・GMARCH・関関同立）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AABB"/>
                </a:solidFill>
                <a:latin typeface="IPAGothic"/>
              </a:rPr>
              <a:t>2026年6月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9A227"/>
                </a:solidFill>
                <a:latin typeface="IPAGothic"/>
              </a:rPr>
              <a:t>総応募者数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1168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IPAGothic"/>
              </a:rPr>
              <a:t>59名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2880360"/>
            <a:ext cx="2743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30175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9A227"/>
                </a:solidFill>
                <a:latin typeface="IPAGothic"/>
              </a:rPr>
              <a:t>内定者数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38328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IPAGothic"/>
              </a:rPr>
              <a:t>1名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4251960"/>
            <a:ext cx="2743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43891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9A227"/>
                </a:solidFill>
                <a:latin typeface="IPAGothic"/>
              </a:rPr>
              <a:t>辞退者数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75488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IPAGothic"/>
              </a:rPr>
              <a:t>28名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サマリー：上位校　選考実績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6E8"/>
                </a:solidFill>
                <a:latin typeface="IPAGothic"/>
              </a:rPr>
              <a:t>2026年4月〜6月　募集分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87552"/>
            <a:ext cx="12188952" cy="587044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" cy="19202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23774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応募者数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E3A5F"/>
                </a:solidFill>
                <a:latin typeface="IPAGothic"/>
              </a:rPr>
              <a:t>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9456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88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IPAGothic"/>
              </a:rPr>
              <a:t>上位校全体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37160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371600"/>
            <a:ext cx="54864" cy="1920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508760"/>
            <a:ext cx="23774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1次通過者数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1828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4A90D9"/>
                </a:solidFill>
                <a:latin typeface="IPAGothic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19456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2788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IPAGothic"/>
              </a:rPr>
              <a:t>通過率 46%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37160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1371600"/>
            <a:ext cx="54864" cy="19202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508760"/>
            <a:ext cx="23774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2次通過者数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828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9A227"/>
                </a:solidFill>
                <a:latin typeface="IPAGothic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219456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788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IPAGothic"/>
              </a:rPr>
              <a:t>通過率 41%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0" y="137160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61120" y="1371600"/>
            <a:ext cx="54864" cy="19202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1508760"/>
            <a:ext cx="23774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最終通過者数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1828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7AE60"/>
                </a:solidFill>
                <a:latin typeface="IPAGothi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219456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788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IPAGothic"/>
              </a:rPr>
              <a:t>通過率 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520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3A5F"/>
                </a:solidFill>
                <a:latin typeface="IPAGothic"/>
              </a:rPr>
              <a:t>応募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3520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C9A227"/>
                </a:solidFill>
                <a:latin typeface="IPAGothic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3520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C9A227"/>
                </a:solidFill>
                <a:latin typeface="IPAGothic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3520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C9A227"/>
                </a:solidFill>
                <a:latin typeface="IPAGothic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520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4A90D9"/>
                </a:solidFill>
                <a:latin typeface="IPAGothic"/>
              </a:rPr>
              <a:t>1次通過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3520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  <a:latin typeface="IPAGothic"/>
              </a:rPr>
              <a:t>2次通過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520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7AE60"/>
                </a:solidFill>
                <a:latin typeface="IPAGothic"/>
              </a:rPr>
              <a:t>最終通過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206240"/>
            <a:ext cx="1124712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206240"/>
            <a:ext cx="73152" cy="2331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2976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IPAGothic"/>
              </a:rPr>
              <a:t>■ 主要インサイト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7548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IPAGothic"/>
              </a:rPr>
              <a:t>・ 上位校からの応募59名のうち、1次通過は27名（通過率46%）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15721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IPAGothic"/>
              </a:rPr>
              <a:t>・ 2次通過は11名（対1次通過比41%）。半数以上が1次〜2次間で離脱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55955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IPAGothic"/>
              </a:rPr>
              <a:t>・ 最終通過（内定）は1名（全体の内定率1.7%）。選考の高い難易度を示す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96188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IPAGothic"/>
              </a:rPr>
              <a:t>・ 辞退者28名（47%）が最大離脱要因 ─ 辞退理由の主因は「その他・未分類」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選考ファネル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6E8"/>
                </a:solidFill>
                <a:latin typeface="IPAGothic"/>
              </a:rPr>
              <a:t>応募〜最終選考通過までの人数推移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87552"/>
            <a:ext cx="12188952" cy="587044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選考ステータス内訳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6E8"/>
                </a:solidFill>
                <a:latin typeface="IPAGothic"/>
              </a:rPr>
              <a:t>上位校応募者59名の最終ステータス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87552"/>
            <a:ext cx="12188952" cy="587044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atu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48640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0" y="1280160"/>
            <a:ext cx="52120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0" y="1280160"/>
            <a:ext cx="64008" cy="5120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463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IPAGothic"/>
              </a:rPr>
              <a:t>■ ステータス詳細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057400"/>
            <a:ext cx="228600" cy="7315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A4A4A"/>
                </a:solidFill>
                <a:latin typeface="IPAGothic"/>
              </a:rPr>
              <a:t>辞退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IPAGothic"/>
              </a:rPr>
              <a:t>28名　47.5%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4C3C"/>
                </a:solidFill>
                <a:latin typeface="IPAGothic"/>
              </a:rPr>
              <a:t>最大の離脱要因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3108960"/>
            <a:ext cx="228600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31546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A4A4A"/>
                </a:solidFill>
                <a:latin typeface="IPAGothic"/>
              </a:rPr>
              <a:t>選考中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520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IPAGothic"/>
              </a:rPr>
              <a:t>23名　39.0%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90D9"/>
                </a:solidFill>
                <a:latin typeface="IPAGothic"/>
              </a:rPr>
              <a:t>継続中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4160520"/>
            <a:ext cx="228600" cy="73152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A4A4A"/>
                </a:solidFill>
                <a:latin typeface="IPAGothic"/>
              </a:rPr>
              <a:t>不合格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IPAGothic"/>
              </a:rPr>
              <a:t>7名　11.9%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IPAGothic"/>
              </a:rPr>
              <a:t>選考落ち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5212079"/>
            <a:ext cx="2286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0" y="525779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A4A4A"/>
                </a:solidFill>
                <a:latin typeface="IPAGothic"/>
              </a:rPr>
              <a:t>内定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562355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IPAGothic"/>
              </a:rPr>
              <a:t>1名　1.7%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53949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  <a:latin typeface="IPAGothic"/>
              </a:rPr>
              <a:t>採用決定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大学グループ別　応募者数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6E8"/>
                </a:solidFill>
                <a:latin typeface="IPAGothic"/>
              </a:rPr>
              <a:t>上位校59名の大学グループ別内訳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87552"/>
            <a:ext cx="12188952" cy="587044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大学別　応募者数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6E8"/>
                </a:solidFill>
                <a:latin typeface="IPAGothic"/>
              </a:rPr>
              <a:t>上位校14大学の応募者数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87552"/>
            <a:ext cx="12188952" cy="587044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iv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108813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辞退分析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6E8"/>
                </a:solidFill>
                <a:latin typeface="IPAGothic"/>
              </a:rPr>
              <a:t>上位校　辞退者28名の理由内訳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87552"/>
            <a:ext cx="12188952" cy="587044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ithdraw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371600" y="5806440"/>
            <a:ext cx="9418320" cy="822960"/>
          </a:xfrm>
          <a:prstGeom prst="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580644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587044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IPAGothic"/>
              </a:rPr>
              <a:t>※ 辞退理由「その他・未分類・不明」が計26名（93%）を占める。詳細理由の収集強化が課題。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考察・次のアクション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6E8"/>
                </a:solidFill>
                <a:latin typeface="IPAGothic"/>
              </a:rPr>
              <a:t>上位校採用強化に向けた施策提言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87552"/>
            <a:ext cx="12188952" cy="587044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6692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566928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44168"/>
            <a:ext cx="50292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441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IPA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3716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IPAGothic"/>
              </a:rPr>
              <a:t>辞退防止策の強化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84248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IPAGothic"/>
              </a:rPr>
              <a:t>辞退者が47.5%（28名）と最大の離脱要因。面談フォロー強化・選考スピード改善・
オファー面談の設計見直しが急務。辞退理由の詳細収集の仕組みを整備。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234440"/>
            <a:ext cx="56692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669280" cy="7315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46520" y="1344168"/>
            <a:ext cx="50292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3441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IPA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3716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IPAGothic"/>
              </a:rPr>
              <a:t>1次→2次の歩留まり向上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984248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IPAGothic"/>
              </a:rPr>
              <a:t>1次通過27名のうち2次通過は11名（41%）。母集団の質向上と、
1次選考後のフォロー・エンゲージメント施策で通過率改善を目指す。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40480"/>
            <a:ext cx="56692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840480"/>
            <a:ext cx="56692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950208"/>
            <a:ext cx="502920" cy="5029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5020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IPA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7764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IPAGothic"/>
              </a:rPr>
              <a:t>上位校母集団の拡大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90288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IPAGothic"/>
              </a:rPr>
              <a:t>旧帝大・早慶からの応募が少ない（1名）。ターゲット校へのダイレクトリクルーティング・
学内説明会・OB/OGネットワーク活用で接触機会を増やす。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840480"/>
            <a:ext cx="56692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840480"/>
            <a:ext cx="566928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6520" y="3950208"/>
            <a:ext cx="50292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95020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IPA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397764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IPAGothic"/>
              </a:rPr>
              <a:t>選考データの継続モニタリング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590288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IPAGothic"/>
              </a:rPr>
              <a:t>現在選考中23名のフォローを継続。通過率・辞退率のトラッキングを月次で実施し、
採用目標達成に向けた定量管理体制を構築する。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