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28016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729984"/>
            <a:ext cx="12188952" cy="128016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8686800" y="128016"/>
            <a:ext cx="3502152" cy="6601968"/>
          </a:xfrm>
          <a:prstGeom prst="rect">
            <a:avLst/>
          </a:prstGeom>
          <a:solidFill>
            <a:srgbClr val="162D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554480"/>
            <a:ext cx="82296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FFFFFF"/>
                </a:solidFill>
                <a:latin typeface="IPAGothic"/>
              </a:rPr>
              <a:t>上位校　採用選考分析レポート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743200"/>
            <a:ext cx="7772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>
                <a:solidFill>
                  <a:srgbClr val="C9A227"/>
                </a:solidFill>
                <a:latin typeface="IPAGothic"/>
              </a:rPr>
              <a:t>応募〜最終選考通過　ファネル分析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429000"/>
            <a:ext cx="7772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CCD6E8"/>
                </a:solidFill>
                <a:latin typeface="IPAGothic"/>
              </a:rPr>
              <a:t>対象：GMARCH以上（旧帝大・早慶・上智・理科大・ICU・GMARCH・関関同立）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120640"/>
            <a:ext cx="3657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99AABB"/>
                </a:solidFill>
                <a:latin typeface="IPAGothic"/>
              </a:rPr>
              <a:t>2026年6月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869680" y="1645920"/>
            <a:ext cx="3017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C9A227"/>
                </a:solidFill>
                <a:latin typeface="IPAGothic"/>
              </a:rPr>
              <a:t>総応募者数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869680" y="2057400"/>
            <a:ext cx="30175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800" b="1">
                <a:solidFill>
                  <a:srgbClr val="FFFFFF"/>
                </a:solidFill>
                <a:latin typeface="IPAGothic"/>
              </a:rPr>
              <a:t>59名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052560" y="2926080"/>
            <a:ext cx="2743200" cy="54864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869680" y="3017520"/>
            <a:ext cx="3017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C9A227"/>
                </a:solidFill>
                <a:latin typeface="IPAGothic"/>
              </a:rPr>
              <a:t>内定者数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869680" y="3429000"/>
            <a:ext cx="30175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800" b="1">
                <a:solidFill>
                  <a:srgbClr val="FFFFFF"/>
                </a:solidFill>
                <a:latin typeface="IPAGothic"/>
              </a:rPr>
              <a:t>1名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052560" y="4297679"/>
            <a:ext cx="2743200" cy="54864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869680" y="4389120"/>
            <a:ext cx="3017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C9A227"/>
                </a:solidFill>
                <a:latin typeface="IPAGothic"/>
              </a:rPr>
              <a:t>辞退者数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869680" y="4800600"/>
            <a:ext cx="30175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800" b="1">
                <a:solidFill>
                  <a:srgbClr val="FFFFFF"/>
                </a:solidFill>
                <a:latin typeface="IPAGothic"/>
              </a:rPr>
              <a:t>28名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052560" y="5669279"/>
            <a:ext cx="2743200" cy="54864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8F9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51560"/>
          </a:xfrm>
          <a:prstGeom prst="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87552"/>
            <a:ext cx="12188952" cy="91440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91440"/>
            <a:ext cx="10058400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IPAGothic"/>
              </a:rPr>
              <a:t>サマリー：上位校　選考実績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685800"/>
            <a:ext cx="9144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CCD6E8"/>
                </a:solidFill>
                <a:latin typeface="IPAGothic"/>
              </a:rPr>
              <a:t>2026年4月〜6月　募集分</a:t>
            </a:r>
          </a:p>
        </p:txBody>
      </p:sp>
      <p:sp>
        <p:nvSpPr>
          <p:cNvPr id="7" name="Rectangle 6"/>
          <p:cNvSpPr/>
          <p:nvPr/>
        </p:nvSpPr>
        <p:spPr>
          <a:xfrm>
            <a:off x="365760" y="1325880"/>
            <a:ext cx="2743200" cy="19202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65760" y="1325880"/>
            <a:ext cx="64008" cy="1920240"/>
          </a:xfrm>
          <a:prstGeom prst="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30352" y="1444752"/>
            <a:ext cx="24688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4A4A4A"/>
                </a:solidFill>
                <a:latin typeface="IPAGothic"/>
              </a:rPr>
              <a:t>応募者数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30352" y="1828800"/>
            <a:ext cx="17373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200" b="1">
                <a:solidFill>
                  <a:srgbClr val="1E3A5F"/>
                </a:solidFill>
                <a:latin typeface="IPAGothic"/>
              </a:rPr>
              <a:t>59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993392" y="2240280"/>
            <a:ext cx="731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4A4A4A"/>
                </a:solidFill>
                <a:latin typeface="IPAGothic"/>
              </a:rPr>
              <a:t>名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30352" y="2788920"/>
            <a:ext cx="2468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7F7F7F"/>
                </a:solidFill>
                <a:latin typeface="IPAGothic"/>
              </a:rPr>
              <a:t>上位校全体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291840" y="1325880"/>
            <a:ext cx="2743200" cy="19202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3291840" y="1325880"/>
            <a:ext cx="64008" cy="1920240"/>
          </a:xfrm>
          <a:prstGeom prst="rect">
            <a:avLst/>
          </a:prstGeom>
          <a:solidFill>
            <a:srgbClr val="4A9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456432" y="1444752"/>
            <a:ext cx="24688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4A4A4A"/>
                </a:solidFill>
                <a:latin typeface="IPAGothic"/>
              </a:rPr>
              <a:t>1次通過者数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456432" y="1828800"/>
            <a:ext cx="17373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200" b="1">
                <a:solidFill>
                  <a:srgbClr val="4A90D9"/>
                </a:solidFill>
                <a:latin typeface="IPAGothic"/>
              </a:rPr>
              <a:t>27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919472" y="2240280"/>
            <a:ext cx="731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4A4A4A"/>
                </a:solidFill>
                <a:latin typeface="IPAGothic"/>
              </a:rPr>
              <a:t>名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456432" y="2788920"/>
            <a:ext cx="2468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7F7F7F"/>
                </a:solidFill>
                <a:latin typeface="IPAGothic"/>
              </a:rPr>
              <a:t>通過率 46%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217920" y="1325880"/>
            <a:ext cx="2743200" cy="19202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217920" y="1325880"/>
            <a:ext cx="64008" cy="1920240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382512" y="1444752"/>
            <a:ext cx="24688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4A4A4A"/>
                </a:solidFill>
                <a:latin typeface="IPAGothic"/>
              </a:rPr>
              <a:t>2次通過者数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82512" y="1828800"/>
            <a:ext cx="17373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200" b="1">
                <a:solidFill>
                  <a:srgbClr val="C9A227"/>
                </a:solidFill>
                <a:latin typeface="IPAGothic"/>
              </a:rPr>
              <a:t>11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845552" y="2240280"/>
            <a:ext cx="731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4A4A4A"/>
                </a:solidFill>
                <a:latin typeface="IPAGothic"/>
              </a:rPr>
              <a:t>名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82512" y="2788920"/>
            <a:ext cx="2468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7F7F7F"/>
                </a:solidFill>
                <a:latin typeface="IPAGothic"/>
              </a:rPr>
              <a:t>通過率 41%</a:t>
            </a:r>
          </a:p>
        </p:txBody>
      </p:sp>
      <p:sp>
        <p:nvSpPr>
          <p:cNvPr id="25" name="Rectangle 24"/>
          <p:cNvSpPr/>
          <p:nvPr/>
        </p:nvSpPr>
        <p:spPr>
          <a:xfrm>
            <a:off x="9144000" y="1325880"/>
            <a:ext cx="2743200" cy="19202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9144000" y="1325880"/>
            <a:ext cx="64008" cy="1920240"/>
          </a:xfrm>
          <a:prstGeom prst="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308592" y="1444752"/>
            <a:ext cx="24688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4A4A4A"/>
                </a:solidFill>
                <a:latin typeface="IPAGothic"/>
              </a:rPr>
              <a:t>最終通過者数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308592" y="1828800"/>
            <a:ext cx="17373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200" b="1">
                <a:solidFill>
                  <a:srgbClr val="27AE60"/>
                </a:solidFill>
                <a:latin typeface="IPAGothic"/>
              </a:rPr>
              <a:t>1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771632" y="2240280"/>
            <a:ext cx="731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4A4A4A"/>
                </a:solidFill>
                <a:latin typeface="IPAGothic"/>
              </a:rPr>
              <a:t>名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308592" y="2788920"/>
            <a:ext cx="2468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7F7F7F"/>
                </a:solidFill>
                <a:latin typeface="IPAGothic"/>
              </a:rPr>
              <a:t>通過率 9%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65760" y="3401568"/>
            <a:ext cx="25603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>
                <a:solidFill>
                  <a:srgbClr val="1E3A5F"/>
                </a:solidFill>
                <a:latin typeface="IPAGothic"/>
              </a:rPr>
              <a:t>応募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108960" y="3401568"/>
            <a:ext cx="5486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>
                <a:solidFill>
                  <a:srgbClr val="C9A227"/>
                </a:solidFill>
                <a:latin typeface="IPAGothic"/>
              </a:rPr>
              <a:t>→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474720" y="3401568"/>
            <a:ext cx="25603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>
                <a:solidFill>
                  <a:srgbClr val="4A90D9"/>
                </a:solidFill>
                <a:latin typeface="IPAGothic"/>
              </a:rPr>
              <a:t>1次通過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035040" y="3401568"/>
            <a:ext cx="5486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>
                <a:solidFill>
                  <a:srgbClr val="C9A227"/>
                </a:solidFill>
                <a:latin typeface="IPAGothic"/>
              </a:rPr>
              <a:t>→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400800" y="3401568"/>
            <a:ext cx="25603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>
                <a:solidFill>
                  <a:srgbClr val="C9A227"/>
                </a:solidFill>
                <a:latin typeface="IPAGothic"/>
              </a:rPr>
              <a:t>2次通過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961120" y="3401568"/>
            <a:ext cx="5486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>
                <a:solidFill>
                  <a:srgbClr val="C9A227"/>
                </a:solidFill>
                <a:latin typeface="IPAGothic"/>
              </a:rPr>
              <a:t>→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326880" y="3401568"/>
            <a:ext cx="25603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>
                <a:solidFill>
                  <a:srgbClr val="27AE60"/>
                </a:solidFill>
                <a:latin typeface="IPAGothic"/>
              </a:rPr>
              <a:t>最終通過</a:t>
            </a:r>
          </a:p>
        </p:txBody>
      </p:sp>
      <p:sp>
        <p:nvSpPr>
          <p:cNvPr id="38" name="Rectangle 37"/>
          <p:cNvSpPr/>
          <p:nvPr/>
        </p:nvSpPr>
        <p:spPr>
          <a:xfrm>
            <a:off x="365760" y="4069080"/>
            <a:ext cx="11430000" cy="25146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365760" y="4069080"/>
            <a:ext cx="82296" cy="2514600"/>
          </a:xfrm>
          <a:prstGeom prst="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566928" y="4187952"/>
            <a:ext cx="1051560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E3A5F"/>
                </a:solidFill>
                <a:latin typeface="IPAGothic"/>
              </a:rPr>
              <a:t>■ 主要インサイト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66928" y="4681728"/>
            <a:ext cx="1097280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4A4A4A"/>
                </a:solidFill>
                <a:latin typeface="IPAGothic"/>
              </a:rPr>
              <a:t>・ 上位校からの応募59名のうち、1次通過は27名（通過率 46%）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66928" y="5120640"/>
            <a:ext cx="1097280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4A4A4A"/>
                </a:solidFill>
                <a:latin typeface="IPAGothic"/>
              </a:rPr>
              <a:t>・ 2次通過は11名（1次通過比 41%）。半数近くが1次〜2次間で離脱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66928" y="5559552"/>
            <a:ext cx="1097280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4A4A4A"/>
                </a:solidFill>
                <a:latin typeface="IPAGothic"/>
              </a:rPr>
              <a:t>・ 最終通過（内定）は1名（全体の内定率 1.7%）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66928" y="5998464"/>
            <a:ext cx="1097280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4A4A4A"/>
                </a:solidFill>
                <a:latin typeface="IPAGothic"/>
              </a:rPr>
              <a:t>・ 辞退者28名（47.5%）が最大離脱要因 ─ 他社内定・優先が9名と最多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8F9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51560"/>
          </a:xfrm>
          <a:prstGeom prst="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87552"/>
            <a:ext cx="12188952" cy="91440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91440"/>
            <a:ext cx="10058400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IPAGothic"/>
              </a:rPr>
              <a:t>選考ファネル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685800"/>
            <a:ext cx="9144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CCD6E8"/>
                </a:solidFill>
                <a:latin typeface="IPAGothic"/>
              </a:rPr>
              <a:t>応募〜最終選考通過までの人数推移</a:t>
            </a:r>
          </a:p>
        </p:txBody>
      </p:sp>
      <p:pic>
        <p:nvPicPr>
          <p:cNvPr id="7" name="Picture 6" descr="funne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143000"/>
            <a:ext cx="10332720" cy="54864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8F9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51560"/>
          </a:xfrm>
          <a:prstGeom prst="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87552"/>
            <a:ext cx="12188952" cy="91440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91440"/>
            <a:ext cx="10058400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IPAGothic"/>
              </a:rPr>
              <a:t>選考ステータス内訳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685800"/>
            <a:ext cx="9144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CCD6E8"/>
                </a:solidFill>
                <a:latin typeface="IPAGothic"/>
              </a:rPr>
              <a:t>上位校応募者59名の最終ステータス</a:t>
            </a:r>
          </a:p>
        </p:txBody>
      </p:sp>
      <p:pic>
        <p:nvPicPr>
          <p:cNvPr id="7" name="Picture 6" descr="status_donu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143000"/>
            <a:ext cx="5943600" cy="548640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6675120" y="1280160"/>
            <a:ext cx="5120640" cy="53035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675120" y="1280160"/>
            <a:ext cx="73152" cy="5303520"/>
          </a:xfrm>
          <a:prstGeom prst="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903720" y="1444752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E3A5F"/>
                </a:solidFill>
                <a:latin typeface="IPAGothic"/>
              </a:rPr>
              <a:t>■ ステータス詳細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903720" y="2103120"/>
            <a:ext cx="256032" cy="777240"/>
          </a:xfrm>
          <a:prstGeom prst="rect">
            <a:avLst/>
          </a:prstGeom>
          <a:solidFill>
            <a:srgbClr val="E74C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269480" y="2148839"/>
            <a:ext cx="2286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4A4A4A"/>
                </a:solidFill>
                <a:latin typeface="IPAGothic"/>
              </a:rPr>
              <a:t>辞退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269480" y="2542032"/>
            <a:ext cx="29260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7F7F7F"/>
                </a:solidFill>
                <a:latin typeface="IPAGothic"/>
              </a:rPr>
              <a:t>28名　47.5%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01200" y="2286000"/>
            <a:ext cx="274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E74C3C"/>
                </a:solidFill>
                <a:latin typeface="IPAGothic"/>
              </a:rPr>
              <a:t>→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903720" y="3182111"/>
            <a:ext cx="256032" cy="777240"/>
          </a:xfrm>
          <a:prstGeom prst="rect">
            <a:avLst/>
          </a:prstGeom>
          <a:solidFill>
            <a:srgbClr val="4A9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269480" y="3227831"/>
            <a:ext cx="2286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4A4A4A"/>
                </a:solidFill>
                <a:latin typeface="IPAGothic"/>
              </a:rPr>
              <a:t>選考中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269480" y="3621023"/>
            <a:ext cx="29260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7F7F7F"/>
                </a:solidFill>
                <a:latin typeface="IPAGothic"/>
              </a:rPr>
              <a:t>23名　39.0%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601200" y="3364991"/>
            <a:ext cx="274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4A90D9"/>
                </a:solidFill>
                <a:latin typeface="IPAGothic"/>
              </a:rPr>
              <a:t>→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903720" y="4261104"/>
            <a:ext cx="256032" cy="777240"/>
          </a:xfrm>
          <a:prstGeom prst="rect">
            <a:avLst/>
          </a:prstGeom>
          <a:solidFill>
            <a:srgbClr val="8888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269480" y="4306824"/>
            <a:ext cx="2286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4A4A4A"/>
                </a:solidFill>
                <a:latin typeface="IPAGothic"/>
              </a:rPr>
              <a:t>不合格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269480" y="4700016"/>
            <a:ext cx="29260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7F7F7F"/>
                </a:solidFill>
                <a:latin typeface="IPAGothic"/>
              </a:rPr>
              <a:t>7名　11.9%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601200" y="4443984"/>
            <a:ext cx="274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888888"/>
                </a:solidFill>
                <a:latin typeface="IPAGothic"/>
              </a:rPr>
              <a:t>→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903720" y="5340096"/>
            <a:ext cx="256032" cy="777240"/>
          </a:xfrm>
          <a:prstGeom prst="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269480" y="5385816"/>
            <a:ext cx="2286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4A4A4A"/>
                </a:solidFill>
                <a:latin typeface="IPAGothic"/>
              </a:rPr>
              <a:t>内定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269480" y="5779008"/>
            <a:ext cx="29260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7F7F7F"/>
                </a:solidFill>
                <a:latin typeface="IPAGothic"/>
              </a:rPr>
              <a:t>1名　1.7%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601200" y="5522976"/>
            <a:ext cx="274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7AE60"/>
                </a:solidFill>
                <a:latin typeface="IPAGothic"/>
              </a:rPr>
              <a:t>→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8F9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51560"/>
          </a:xfrm>
          <a:prstGeom prst="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87552"/>
            <a:ext cx="12188952" cy="91440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91440"/>
            <a:ext cx="10058400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IPAGothic"/>
              </a:rPr>
              <a:t>大学グループ別　応募者数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685800"/>
            <a:ext cx="9144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CCD6E8"/>
                </a:solidFill>
                <a:latin typeface="IPAGothic"/>
              </a:rPr>
              <a:t>上位校59名の大学グループ別内訳</a:t>
            </a:r>
          </a:p>
        </p:txBody>
      </p:sp>
      <p:pic>
        <p:nvPicPr>
          <p:cNvPr id="7" name="Picture 6" descr="group_ba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143000"/>
            <a:ext cx="9966960" cy="54864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8F9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51560"/>
          </a:xfrm>
          <a:prstGeom prst="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87552"/>
            <a:ext cx="12188952" cy="91440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91440"/>
            <a:ext cx="10058400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IPAGothic"/>
              </a:rPr>
              <a:t>大学別　応募者数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685800"/>
            <a:ext cx="9144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CCD6E8"/>
                </a:solidFill>
                <a:latin typeface="IPAGothic"/>
              </a:rPr>
              <a:t>上位校14大学の応募者数</a:t>
            </a:r>
          </a:p>
        </p:txBody>
      </p:sp>
      <p:pic>
        <p:nvPicPr>
          <p:cNvPr id="7" name="Picture 6" descr="univ_ba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143000"/>
            <a:ext cx="11430000" cy="54864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8F9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51560"/>
          </a:xfrm>
          <a:prstGeom prst="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87552"/>
            <a:ext cx="12188952" cy="91440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91440"/>
            <a:ext cx="10058400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IPAGothic"/>
              </a:rPr>
              <a:t>辞退分析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685800"/>
            <a:ext cx="9144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CCD6E8"/>
                </a:solidFill>
                <a:latin typeface="IPAGothic"/>
              </a:rPr>
              <a:t>上位校　辞退者28名の理由内訳</a:t>
            </a:r>
          </a:p>
        </p:txBody>
      </p:sp>
      <p:pic>
        <p:nvPicPr>
          <p:cNvPr id="7" name="Picture 6" descr="withdraw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143000"/>
            <a:ext cx="10972800" cy="484632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640080" y="6080760"/>
            <a:ext cx="10972800" cy="594360"/>
          </a:xfrm>
          <a:prstGeom prst="rect">
            <a:avLst/>
          </a:prstGeom>
          <a:solidFill>
            <a:srgbClr val="FFF8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40080" y="6080760"/>
            <a:ext cx="64008" cy="594360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04672" y="6126480"/>
            <a:ext cx="1060704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4A4A4A"/>
                </a:solidFill>
                <a:latin typeface="IPAGothic"/>
              </a:rPr>
              <a:t>※ 「理由未収集・不明」7名（25%）の解消に向け、辞退時の面談・アンケート実施を推奨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8F9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51560"/>
          </a:xfrm>
          <a:prstGeom prst="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87552"/>
            <a:ext cx="12188952" cy="91440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91440"/>
            <a:ext cx="10058400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IPAGothic"/>
              </a:rPr>
              <a:t>考察・次のアクション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685800"/>
            <a:ext cx="9144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CCD6E8"/>
                </a:solidFill>
                <a:latin typeface="IPAGothic"/>
              </a:rPr>
              <a:t>上位校採用強化に向けた施策提言</a:t>
            </a:r>
          </a:p>
        </p:txBody>
      </p:sp>
      <p:sp>
        <p:nvSpPr>
          <p:cNvPr id="7" name="Rectangle 6"/>
          <p:cNvSpPr/>
          <p:nvPr/>
        </p:nvSpPr>
        <p:spPr>
          <a:xfrm>
            <a:off x="320040" y="1261872"/>
            <a:ext cx="5760720" cy="23774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20040" y="1261872"/>
            <a:ext cx="5760720" cy="82296"/>
          </a:xfrm>
          <a:prstGeom prst="rect">
            <a:avLst/>
          </a:prstGeom>
          <a:solidFill>
            <a:srgbClr val="E74C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408175"/>
            <a:ext cx="530352" cy="530352"/>
          </a:xfrm>
          <a:prstGeom prst="rect">
            <a:avLst/>
          </a:prstGeom>
          <a:solidFill>
            <a:srgbClr val="E74C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7200" y="1408175"/>
            <a:ext cx="530352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700" b="1">
                <a:solidFill>
                  <a:srgbClr val="FFFFFF"/>
                </a:solidFill>
                <a:latin typeface="IPAGothic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24712" y="1444751"/>
            <a:ext cx="47548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E3A5F"/>
                </a:solidFill>
                <a:latin typeface="IPAGothic"/>
              </a:rPr>
              <a:t>辞退防止策の強化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" y="2066543"/>
            <a:ext cx="539496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>
                <a:solidFill>
                  <a:srgbClr val="4A4A4A"/>
                </a:solidFill>
                <a:latin typeface="IPAGothic"/>
              </a:rPr>
              <a:t>辞退者28名（47.5%）が最大の離脱要因。特に他社内定・優先（9名）が最多。
選考スピード改善・オファー面談の設計見直しと、辞退理由の詳細収集体制を整備。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00800" y="1261872"/>
            <a:ext cx="5760720" cy="23774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400800" y="1261872"/>
            <a:ext cx="5760720" cy="82296"/>
          </a:xfrm>
          <a:prstGeom prst="rect">
            <a:avLst/>
          </a:prstGeom>
          <a:solidFill>
            <a:srgbClr val="4A9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537960" y="1408175"/>
            <a:ext cx="530352" cy="530352"/>
          </a:xfrm>
          <a:prstGeom prst="rect">
            <a:avLst/>
          </a:prstGeom>
          <a:solidFill>
            <a:srgbClr val="4A9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537960" y="1408175"/>
            <a:ext cx="530352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700" b="1">
                <a:solidFill>
                  <a:srgbClr val="FFFFFF"/>
                </a:solidFill>
                <a:latin typeface="IPAGothic"/>
              </a:rPr>
              <a:t>02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205472" y="1444751"/>
            <a:ext cx="47548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E3A5F"/>
                </a:solidFill>
                <a:latin typeface="IPAGothic"/>
              </a:rPr>
              <a:t>1次→2次の歩留まり向上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83680" y="2066543"/>
            <a:ext cx="539496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>
                <a:solidFill>
                  <a:srgbClr val="4A4A4A"/>
                </a:solidFill>
                <a:latin typeface="IPAGothic"/>
              </a:rPr>
              <a:t>1次通過27名のうち2次通過は11名（41%）。1次通過後のフォロー強化と
エンゲージメント施策で通過率改善を目指す。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20040" y="3895344"/>
            <a:ext cx="5760720" cy="23774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320040" y="3895344"/>
            <a:ext cx="5760720" cy="82296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57200" y="4041648"/>
            <a:ext cx="530352" cy="530352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57200" y="4041648"/>
            <a:ext cx="530352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700" b="1">
                <a:solidFill>
                  <a:srgbClr val="FFFFFF"/>
                </a:solidFill>
                <a:latin typeface="IPAGothic"/>
              </a:rPr>
              <a:t>03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24712" y="4078224"/>
            <a:ext cx="47548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E3A5F"/>
                </a:solidFill>
                <a:latin typeface="IPAGothic"/>
              </a:rPr>
              <a:t>上位校母集団の拡大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02920" y="4700016"/>
            <a:ext cx="539496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>
                <a:solidFill>
                  <a:srgbClr val="4A4A4A"/>
                </a:solidFill>
                <a:latin typeface="IPAGothic"/>
              </a:rPr>
              <a:t>旧帝大・早慶からの応募が極めて少ない（計1名）。ダイレクトリクルーティング・
学内説明会・OB/OGネットワーク活用で接触機会を増やす。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400800" y="3895344"/>
            <a:ext cx="5760720" cy="23774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400800" y="3895344"/>
            <a:ext cx="5760720" cy="82296"/>
          </a:xfrm>
          <a:prstGeom prst="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537960" y="4041648"/>
            <a:ext cx="530352" cy="530352"/>
          </a:xfrm>
          <a:prstGeom prst="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537960" y="4041648"/>
            <a:ext cx="530352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700" b="1">
                <a:solidFill>
                  <a:srgbClr val="FFFFFF"/>
                </a:solidFill>
                <a:latin typeface="IPAGothic"/>
              </a:rPr>
              <a:t>04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205472" y="4078224"/>
            <a:ext cx="47548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E3A5F"/>
                </a:solidFill>
                <a:latin typeface="IPAGothic"/>
              </a:rPr>
              <a:t>選考データの継続モニタリング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583680" y="4700016"/>
            <a:ext cx="539496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>
                <a:solidFill>
                  <a:srgbClr val="4A4A4A"/>
                </a:solidFill>
                <a:latin typeface="IPAGothic"/>
              </a:rPr>
              <a:t>現在選考中23名のフォローを継続。通過率・辞退率を月次トラッキングし、
採用目標達成に向けた定量管理体制を構築する。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