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228600" y="0"/>
            <a:ext cx="0" cy="6858000"/>
          </a:xfrm>
          <a:prstGeom prst="line">
            <a:avLst/>
          </a:prstGeom>
          <a:ln w="12700">
            <a:solidFill>
              <a:srgbClr val="4E44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02920" y="868680"/>
            <a:ext cx="288036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2880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4E4454"/>
                </a:solidFill>
                <a:latin typeface="Yu Gothic"/>
              </a:rPr>
              <a:t>27新卒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90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4E4454"/>
                </a:solidFill>
                <a:latin typeface="Yu Gothic"/>
              </a:rPr>
              <a:t>内定承諾者</a:t>
            </a:r>
          </a:p>
          <a:p>
            <a:pPr algn="l">
              <a:lnSpc>
                <a:spcPct val="105000"/>
              </a:lnSpc>
            </a:pPr>
            <a:r>
              <a:rPr sz="5400" b="1">
                <a:solidFill>
                  <a:srgbClr val="4E4454"/>
                </a:solidFill>
                <a:latin typeface="Yu Gothic"/>
              </a:rPr>
              <a:t>顔合わせ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50000"/>
            <a:ext cx="90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8762"/>
                </a:solidFill>
                <a:latin typeface="Yu Gothic"/>
              </a:rPr>
              <a:t>2026年6月　／　Zoom　／　60分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0000" y="1100000"/>
            <a:ext cx="2900000" cy="2100000"/>
          </a:xfrm>
          <a:prstGeom prst="roundRect">
            <a:avLst>
              <a:gd name="adj" fmla="val 8000"/>
            </a:avLst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00000" y="1700000"/>
            <a:ext cx="2300000" cy="1700000"/>
          </a:xfrm>
          <a:prstGeom prst="roundRect">
            <a:avLst>
              <a:gd name="adj" fmla="val 8000"/>
            </a:avLst>
          </a:prstGeom>
          <a:solidFill>
            <a:srgbClr val="FFC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00000" y="2100000"/>
            <a:ext cx="900000" cy="90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02920" y="5800000"/>
            <a:ext cx="11183112" cy="0"/>
          </a:xfrm>
          <a:prstGeom prst="line">
            <a:avLst/>
          </a:prstGeom>
          <a:ln w="12700">
            <a:solidFill>
              <a:srgbClr val="4E44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02920" y="6050000"/>
            <a:ext cx="250000" cy="250000"/>
          </a:xfrm>
          <a:prstGeom prst="ellipse">
            <a:avLst/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000" y="6020000"/>
            <a:ext cx="800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6272"/>
                </a:solidFill>
                <a:latin typeface="Yu Gothic"/>
              </a:rPr>
              <a:t>参加者：内定承諾者 ＋ 人事担当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228600" y="0"/>
            <a:ext cx="0" cy="6858000"/>
          </a:xfrm>
          <a:prstGeom prst="line">
            <a:avLst/>
          </a:prstGeom>
          <a:ln w="12700">
            <a:solidFill>
              <a:srgbClr val="4E44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502920"/>
            <a:ext cx="4800600" cy="685800"/>
          </a:xfrm>
          <a:prstGeom prst="rect">
            <a:avLst/>
          </a:prstGeom>
          <a:solidFill>
            <a:srgbClr val="4E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457200"/>
            <a:ext cx="480060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4500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4E4454"/>
                </a:solidFill>
                <a:latin typeface="Yu Gothic"/>
              </a:rPr>
              <a:t>今日のゴール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94392" y="502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94392" y="50292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8762"/>
                </a:solidFill>
                <a:latin typeface="Yu Gothic"/>
              </a:rPr>
              <a:t>全体：60分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00000"/>
            <a:ext cx="5550000" cy="3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2920" y="1950000"/>
            <a:ext cx="1700000" cy="600000"/>
          </a:xfrm>
          <a:prstGeom prst="roundRect">
            <a:avLst>
              <a:gd name="adj" fmla="val 50000"/>
            </a:avLst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920" y="1950000"/>
            <a:ext cx="17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GOAL  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920" y="2750000"/>
            <a:ext cx="505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4E4454"/>
                </a:solidFill>
                <a:latin typeface="Yu Gothic"/>
              </a:rPr>
              <a:t>全員の顔と名前を覚える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920" y="3700000"/>
            <a:ext cx="5050000" cy="1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6272"/>
                </a:solidFill>
                <a:latin typeface="Yu Gothic"/>
              </a:rPr>
              <a:t>→  同期の顔・名前・キャラクターを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6272"/>
                </a:solidFill>
                <a:latin typeface="Yu Gothic"/>
              </a:rPr>
              <a:t>　 今日だけでひとつながりにする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00" y="1700000"/>
            <a:ext cx="5550000" cy="3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50000" y="1950000"/>
            <a:ext cx="1700000" cy="600000"/>
          </a:xfrm>
          <a:prstGeom prst="roundRect">
            <a:avLst>
              <a:gd name="adj" fmla="val 50000"/>
            </a:avLst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0000" y="1950000"/>
            <a:ext cx="17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GOAL  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0000" y="2750000"/>
            <a:ext cx="505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4E4454"/>
                </a:solidFill>
                <a:latin typeface="Yu Gothic"/>
              </a:rPr>
              <a:t>今日楽しかった！と思って</a:t>
            </a:r>
          </a:p>
          <a:p>
            <a:pPr algn="l"/>
            <a:r>
              <a:rPr sz="2400" b="1">
                <a:solidFill>
                  <a:srgbClr val="4E4454"/>
                </a:solidFill>
                <a:latin typeface="Yu Gothic"/>
              </a:rPr>
              <a:t>画面を閉じる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0000" y="3700000"/>
            <a:ext cx="5050000" cy="1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6272"/>
                </a:solidFill>
                <a:latin typeface="Yu Gothic"/>
              </a:rPr>
              <a:t>→  緊張や不安より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6272"/>
                </a:solidFill>
                <a:latin typeface="Yu Gothic"/>
              </a:rPr>
              <a:t>　 「また会いたい」を優先する場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0000" y="5450000"/>
            <a:ext cx="3600000" cy="700000"/>
          </a:xfrm>
          <a:prstGeom prst="roundRect">
            <a:avLst>
              <a:gd name="adj" fmla="val 50000"/>
            </a:avLst>
          </a:prstGeom>
          <a:solidFill>
            <a:srgbClr val="FFC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00000" y="5450000"/>
            <a:ext cx="36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4E4454"/>
                </a:solidFill>
                <a:latin typeface="Yu Gothic"/>
              </a:rPr>
              <a:t>この 2 つだけ！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228600" y="0"/>
            <a:ext cx="0" cy="6858000"/>
          </a:xfrm>
          <a:prstGeom prst="line">
            <a:avLst/>
          </a:prstGeom>
          <a:ln w="12700">
            <a:solidFill>
              <a:srgbClr val="4E44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502920"/>
            <a:ext cx="4800600" cy="685800"/>
          </a:xfrm>
          <a:prstGeom prst="rect">
            <a:avLst/>
          </a:prstGeom>
          <a:solidFill>
            <a:srgbClr val="4E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457200"/>
            <a:ext cx="480060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4500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4E4454"/>
                </a:solidFill>
                <a:latin typeface="Yu Gothic"/>
              </a:rPr>
              <a:t>今日の流れ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94392" y="502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94392" y="50292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8762"/>
                </a:solidFill>
                <a:latin typeface="Yu Gothic"/>
              </a:rPr>
              <a:t>全体：60分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00000"/>
            <a:ext cx="2116622" cy="2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1231" y="2400000"/>
            <a:ext cx="600000" cy="600000"/>
          </a:xfrm>
          <a:prstGeom prst="ellipse">
            <a:avLst/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231" y="2400000"/>
            <a:ext cx="6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50000"/>
            <a:ext cx="2116622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E4454"/>
                </a:solidFill>
                <a:latin typeface="Yu Gothic"/>
              </a:rPr>
              <a:t>自己紹介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E4454"/>
                </a:solidFill>
                <a:latin typeface="Yu Gothic"/>
              </a:rPr>
              <a:t>リレー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00000"/>
            <a:ext cx="2116622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8762"/>
                </a:solidFill>
                <a:latin typeface="Yu Gothic"/>
              </a:rPr>
              <a:t>〜15分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9542" y="3150000"/>
            <a:ext cx="23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8762"/>
                </a:solidFill>
                <a:latin typeface="Yu Gothic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69542" y="2200000"/>
            <a:ext cx="2116622" cy="2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7853" y="2400000"/>
            <a:ext cx="600000" cy="600000"/>
          </a:xfrm>
          <a:prstGeom prst="ellipse">
            <a:avLst/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7853" y="2400000"/>
            <a:ext cx="6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9542" y="3250000"/>
            <a:ext cx="2116622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E4454"/>
                </a:solidFill>
                <a:latin typeface="Yu Gothic"/>
              </a:rPr>
              <a:t>共通点探し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E4454"/>
                </a:solidFill>
                <a:latin typeface="Yu Gothic"/>
              </a:rPr>
              <a:t>（グループ）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9542" y="4000000"/>
            <a:ext cx="2116622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8762"/>
                </a:solidFill>
                <a:latin typeface="Yu Gothic"/>
              </a:rPr>
              <a:t>〜30分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164" y="3150000"/>
            <a:ext cx="23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8762"/>
                </a:solidFill>
                <a:latin typeface="Yu Gothic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36164" y="2200000"/>
            <a:ext cx="2116622" cy="2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94476" y="2400000"/>
            <a:ext cx="600000" cy="600000"/>
          </a:xfrm>
          <a:prstGeom prst="ellipse">
            <a:avLst/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94476" y="2400000"/>
            <a:ext cx="6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6164" y="3250000"/>
            <a:ext cx="2116622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E4454"/>
                </a:solidFill>
                <a:latin typeface="Yu Gothic"/>
              </a:rPr>
              <a:t>共通点発表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E4454"/>
                </a:solidFill>
                <a:latin typeface="Yu Gothic"/>
              </a:rPr>
              <a:t>（全体）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6164" y="4000000"/>
            <a:ext cx="2116622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8762"/>
                </a:solidFill>
                <a:latin typeface="Yu Gothic"/>
              </a:rPr>
              <a:t>〜50分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2787" y="3150000"/>
            <a:ext cx="23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8762"/>
                </a:solidFill>
                <a:latin typeface="Yu Gothic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02787" y="2200000"/>
            <a:ext cx="2116622" cy="2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61098" y="2400000"/>
            <a:ext cx="600000" cy="600000"/>
          </a:xfrm>
          <a:prstGeom prst="ellipse">
            <a:avLst/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1098" y="2400000"/>
            <a:ext cx="6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02787" y="3250000"/>
            <a:ext cx="2116622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E4454"/>
                </a:solidFill>
                <a:latin typeface="Yu Gothic"/>
              </a:rPr>
              <a:t>会社説明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2787" y="4000000"/>
            <a:ext cx="2116622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8762"/>
                </a:solidFill>
                <a:latin typeface="Yu Gothic"/>
              </a:rPr>
              <a:t>〜55分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9409" y="3150000"/>
            <a:ext cx="23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8762"/>
                </a:solidFill>
                <a:latin typeface="Yu Gothic"/>
              </a:rPr>
              <a:t>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69409" y="2200000"/>
            <a:ext cx="2116622" cy="2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27720" y="2400000"/>
            <a:ext cx="600000" cy="600000"/>
          </a:xfrm>
          <a:prstGeom prst="ellipse">
            <a:avLst/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27720" y="2400000"/>
            <a:ext cx="6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69409" y="3250000"/>
            <a:ext cx="2116622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E4454"/>
                </a:solidFill>
                <a:latin typeface="Yu Gothic"/>
              </a:rPr>
              <a:t>クロージング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69409" y="4000000"/>
            <a:ext cx="2116622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8762"/>
                </a:solidFill>
                <a:latin typeface="Yu Gothic"/>
              </a:rPr>
              <a:t>〜60分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900000"/>
            <a:ext cx="6500000" cy="600000"/>
          </a:xfrm>
          <a:prstGeom prst="roundRect">
            <a:avLst>
              <a:gd name="adj" fmla="val 50000"/>
            </a:avLst>
          </a:prstGeom>
          <a:solidFill>
            <a:srgbClr val="FFF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900000"/>
            <a:ext cx="65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4E4454"/>
                </a:solidFill>
                <a:latin typeface="Yu Gothic"/>
              </a:rPr>
              <a:t>同一ワーク「共通点探し」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228600" y="0"/>
            <a:ext cx="0" cy="6858000"/>
          </a:xfrm>
          <a:prstGeom prst="line">
            <a:avLst/>
          </a:prstGeom>
          <a:ln w="12700">
            <a:solidFill>
              <a:srgbClr val="4E44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502920"/>
            <a:ext cx="4800600" cy="685800"/>
          </a:xfrm>
          <a:prstGeom prst="rect">
            <a:avLst/>
          </a:prstGeom>
          <a:solidFill>
            <a:srgbClr val="4E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457200"/>
            <a:ext cx="480060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4500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4E4454"/>
                </a:solidFill>
                <a:latin typeface="Yu Gothic"/>
              </a:rPr>
              <a:t>①　自己紹介リレー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94392" y="502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94392" y="50292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8762"/>
                </a:solidFill>
                <a:latin typeface="Yu Gothic"/>
              </a:rPr>
              <a:t>0〜15分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00000"/>
            <a:ext cx="11183112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900000"/>
            <a:ext cx="1900000" cy="600000"/>
          </a:xfrm>
          <a:prstGeom prst="roundRect">
            <a:avLst>
              <a:gd name="adj" fmla="val 0"/>
            </a:avLst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00000"/>
            <a:ext cx="19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話す内容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920" y="2650000"/>
            <a:ext cx="10683112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6272"/>
                </a:solidFill>
                <a:latin typeface="Yu Gothic"/>
              </a:rPr>
              <a:t>① 名前・大学　　② 最近の推し or マイブーム　　③ 一言キャッチフレーズ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50000"/>
            <a:ext cx="545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550000"/>
            <a:ext cx="1900000" cy="600000"/>
          </a:xfrm>
          <a:prstGeom prst="roundRect">
            <a:avLst>
              <a:gd name="adj" fmla="val 0"/>
            </a:avLst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50000"/>
            <a:ext cx="19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ルール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920" y="4300000"/>
            <a:ext cx="495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6272"/>
                </a:solidFill>
                <a:latin typeface="Yu Gothic"/>
              </a:rPr>
              <a:t>最後に次の人を指名してバトンを渡す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5992" y="3550000"/>
            <a:ext cx="545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5992" y="3550000"/>
            <a:ext cx="1900000" cy="600000"/>
          </a:xfrm>
          <a:prstGeom prst="roundRect">
            <a:avLst>
              <a:gd name="adj" fmla="val 0"/>
            </a:avLst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5992" y="3550000"/>
            <a:ext cx="19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ポイント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5992" y="4300000"/>
            <a:ext cx="495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6272"/>
                </a:solidFill>
                <a:latin typeface="Yu Gothic"/>
              </a:rPr>
              <a:t>スタンプ・チャットでリアクション大歓迎！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6272"/>
                </a:solidFill>
                <a:latin typeface="Yu Gothic"/>
              </a:rPr>
              <a:t>推しはモノ・人・食べ物・なんでもOK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228600" y="0"/>
            <a:ext cx="0" cy="6858000"/>
          </a:xfrm>
          <a:prstGeom prst="line">
            <a:avLst/>
          </a:prstGeom>
          <a:ln w="12700">
            <a:solidFill>
              <a:srgbClr val="4E44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502920"/>
            <a:ext cx="4800600" cy="685800"/>
          </a:xfrm>
          <a:prstGeom prst="rect">
            <a:avLst/>
          </a:prstGeom>
          <a:solidFill>
            <a:srgbClr val="4E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457200"/>
            <a:ext cx="480060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4500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4E4454"/>
                </a:solidFill>
                <a:latin typeface="Yu Gothic"/>
              </a:rPr>
              <a:t>②　共通点探し　【グループ内】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94392" y="502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94392" y="50292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8762"/>
                </a:solidFill>
                <a:latin typeface="Yu Gothic"/>
              </a:rPr>
              <a:t>15〜30分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50000"/>
            <a:ext cx="11183112" cy="10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0000" y="2110000"/>
            <a:ext cx="500000" cy="500000"/>
          </a:xfrm>
          <a:prstGeom prst="ellipse">
            <a:avLst/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000" y="2110000"/>
            <a:ext cx="5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0000" y="1850000"/>
            <a:ext cx="10100000" cy="10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E4454"/>
                </a:solidFill>
                <a:latin typeface="Yu Gothic"/>
              </a:rPr>
              <a:t>15分間でできるだけ多くの共通点を見つける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50000"/>
            <a:ext cx="11183112" cy="10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0000" y="3210000"/>
            <a:ext cx="500000" cy="500000"/>
          </a:xfrm>
          <a:prstGeom prst="ellipse">
            <a:avLst/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000" y="3210000"/>
            <a:ext cx="5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0000" y="2950000"/>
            <a:ext cx="10100000" cy="10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E4454"/>
                </a:solidFill>
                <a:latin typeface="Yu Gothic"/>
              </a:rPr>
              <a:t>"当たり前すぎる共通点"は禁止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4E4454"/>
                </a:solidFill>
                <a:latin typeface="Yu Gothic"/>
              </a:rPr>
              <a:t>（大学生・服を着ている・スマホを持っている… NG！）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50000"/>
            <a:ext cx="11183112" cy="10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0000" y="4310000"/>
            <a:ext cx="500000" cy="500000"/>
          </a:xfrm>
          <a:prstGeom prst="ellipse">
            <a:avLst/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000" y="4310000"/>
            <a:ext cx="5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0000" y="4050000"/>
            <a:ext cx="10100000" cy="10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E4454"/>
                </a:solidFill>
                <a:latin typeface="Yu Gothic"/>
              </a:rPr>
              <a:t>深い共通点ほど価値が高い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4E4454"/>
                </a:solidFill>
                <a:latin typeface="Yu Gothic"/>
              </a:rPr>
              <a:t>（"日本人" ＜ "小学校で習い事を途中で辞めた経験あり"）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50000"/>
            <a:ext cx="11183112" cy="10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0000" y="5410000"/>
            <a:ext cx="500000" cy="500000"/>
          </a:xfrm>
          <a:prstGeom prst="ellipse">
            <a:avLst/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000" y="5410000"/>
            <a:ext cx="5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0000" y="5150000"/>
            <a:ext cx="10100000" cy="10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E4454"/>
                </a:solidFill>
                <a:latin typeface="Yu Gothic"/>
              </a:rPr>
              <a:t>後で全体に発表するので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4E4454"/>
                </a:solidFill>
                <a:latin typeface="Yu Gothic"/>
              </a:rPr>
              <a:t>エピソードつきの面白い共通点を優先してメモ！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228600" y="0"/>
            <a:ext cx="0" cy="6858000"/>
          </a:xfrm>
          <a:prstGeom prst="line">
            <a:avLst/>
          </a:prstGeom>
          <a:ln w="12700">
            <a:solidFill>
              <a:srgbClr val="4E44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502920"/>
            <a:ext cx="4800600" cy="685800"/>
          </a:xfrm>
          <a:prstGeom prst="rect">
            <a:avLst/>
          </a:prstGeom>
          <a:solidFill>
            <a:srgbClr val="4E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457200"/>
            <a:ext cx="480060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4500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4E4454"/>
                </a:solidFill>
                <a:latin typeface="Yu Gothic"/>
              </a:rPr>
              <a:t>③　共通点発表　【全体】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94392" y="502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94392" y="50292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8762"/>
                </a:solidFill>
                <a:latin typeface="Yu Gothic"/>
              </a:rPr>
              <a:t>30〜50分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50000"/>
            <a:ext cx="11183112" cy="13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000" y="2220000"/>
            <a:ext cx="1700000" cy="560000"/>
          </a:xfrm>
          <a:prstGeom prst="roundRect">
            <a:avLst>
              <a:gd name="adj" fmla="val 50000"/>
            </a:avLst>
          </a:prstGeom>
          <a:solidFill>
            <a:srgbClr val="FFC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000" y="2220000"/>
            <a:ext cx="170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4E4454"/>
                </a:solidFill>
                <a:latin typeface="Yu Gothic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0" y="1850000"/>
            <a:ext cx="8700000" cy="1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E4454"/>
                </a:solidFill>
                <a:latin typeface="Yu Gothic"/>
              </a:rPr>
              <a:t>各グループから自慢の共通点を発表！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4E4454"/>
                </a:solidFill>
                <a:latin typeface="Yu Gothic"/>
              </a:rPr>
              <a:t>面白いもの・意外なもの優先で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50000"/>
            <a:ext cx="11183112" cy="2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8762"/>
                </a:solidFill>
                <a:latin typeface="Yu Gothic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00000"/>
            <a:ext cx="11183112" cy="13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0000" y="3770000"/>
            <a:ext cx="1700000" cy="560000"/>
          </a:xfrm>
          <a:prstGeom prst="roundRect">
            <a:avLst>
              <a:gd name="adj" fmla="val 50000"/>
            </a:avLst>
          </a:prstGeom>
          <a:solidFill>
            <a:srgbClr val="FFC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000" y="3770000"/>
            <a:ext cx="170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4E4454"/>
                </a:solidFill>
                <a:latin typeface="Yu Gothic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0000" y="3400000"/>
            <a:ext cx="8700000" cy="1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E4454"/>
                </a:solidFill>
                <a:latin typeface="Yu Gothic"/>
              </a:rPr>
              <a:t>深掘りトーク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4E4454"/>
                </a:solidFill>
                <a:latin typeface="Yu Gothic"/>
              </a:rPr>
              <a:t>「それって具体的にどういうこと？」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00000"/>
            <a:ext cx="11183112" cy="2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8762"/>
                </a:solidFill>
                <a:latin typeface="Yu Gothic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50000"/>
            <a:ext cx="11183112" cy="13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000" y="5320000"/>
            <a:ext cx="1700000" cy="560000"/>
          </a:xfrm>
          <a:prstGeom prst="roundRect">
            <a:avLst>
              <a:gd name="adj" fmla="val 50000"/>
            </a:avLst>
          </a:prstGeom>
          <a:solidFill>
            <a:srgbClr val="FFC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000" y="5320000"/>
            <a:ext cx="170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4E4454"/>
                </a:solidFill>
                <a:latin typeface="Yu Gothic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0000" y="4950000"/>
            <a:ext cx="8700000" cy="1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E4454"/>
                </a:solidFill>
                <a:latin typeface="Yu Gothic"/>
              </a:rPr>
              <a:t>全グループ共通ランキング発表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4E4454"/>
                </a:solidFill>
                <a:latin typeface="Yu Gothic"/>
              </a:rPr>
              <a:t>「実は全員に当てはまった共通点は…」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228600" y="0"/>
            <a:ext cx="0" cy="6858000"/>
          </a:xfrm>
          <a:prstGeom prst="line">
            <a:avLst/>
          </a:prstGeom>
          <a:ln w="12700">
            <a:solidFill>
              <a:srgbClr val="4E44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502920"/>
            <a:ext cx="4800600" cy="685800"/>
          </a:xfrm>
          <a:prstGeom prst="rect">
            <a:avLst/>
          </a:prstGeom>
          <a:solidFill>
            <a:srgbClr val="4E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457200"/>
            <a:ext cx="480060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4500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4E4454"/>
                </a:solidFill>
                <a:latin typeface="Yu Gothic"/>
              </a:rPr>
              <a:t>④　会社説明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94392" y="502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94392" y="50292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8762"/>
                </a:solidFill>
                <a:latin typeface="Yu Gothic"/>
              </a:rPr>
              <a:t>50〜55分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50000"/>
            <a:ext cx="11183112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4E4454"/>
                </a:solidFill>
                <a:latin typeface="Yu Gothic"/>
              </a:rPr>
              <a:t>覚えて帰ってほしい　3 つのキーワード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00000"/>
            <a:ext cx="3561037" cy="2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83438" y="2700000"/>
            <a:ext cx="600000" cy="600000"/>
          </a:xfrm>
          <a:prstGeom prst="ellipse">
            <a:avLst/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3438" y="2700000"/>
            <a:ext cx="6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00000"/>
            <a:ext cx="3561037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4E4454"/>
                </a:solidFill>
                <a:latin typeface="Yu Gothic"/>
              </a:rPr>
              <a:t>業界  NO.1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2920" y="4100000"/>
            <a:ext cx="3161037" cy="600000"/>
          </a:xfrm>
          <a:prstGeom prst="roundRect">
            <a:avLst>
              <a:gd name="adj" fmla="val 15000"/>
            </a:avLst>
          </a:prstGeom>
          <a:solidFill>
            <a:srgbClr val="FFF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920" y="4100000"/>
            <a:ext cx="3161037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6B6272"/>
                </a:solidFill>
                <a:latin typeface="Yu Gothic"/>
              </a:rPr>
              <a:t>建設・インフラ特化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6B6272"/>
                </a:solidFill>
                <a:latin typeface="Yu Gothic"/>
              </a:rPr>
              <a:t>業界シェアトップクラス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3957" y="2500000"/>
            <a:ext cx="3561037" cy="2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94476" y="2700000"/>
            <a:ext cx="600000" cy="600000"/>
          </a:xfrm>
          <a:prstGeom prst="ellipse">
            <a:avLst/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94476" y="2700000"/>
            <a:ext cx="6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3957" y="3500000"/>
            <a:ext cx="3561037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4E4454"/>
                </a:solidFill>
                <a:latin typeface="Yu Gothic"/>
              </a:rPr>
              <a:t>本社勤め・選ぶ側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13957" y="4100000"/>
            <a:ext cx="3161037" cy="600000"/>
          </a:xfrm>
          <a:prstGeom prst="roundRect">
            <a:avLst>
              <a:gd name="adj" fmla="val 15000"/>
            </a:avLst>
          </a:prstGeom>
          <a:solidFill>
            <a:srgbClr val="FFF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3957" y="4100000"/>
            <a:ext cx="3161037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6B6272"/>
                </a:solidFill>
                <a:latin typeface="Yu Gothic"/>
              </a:rPr>
              <a:t>コーディネーター職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6B6272"/>
                </a:solidFill>
                <a:latin typeface="Yu Gothic"/>
              </a:rPr>
              <a:t>スーツで本社出社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4994" y="2500000"/>
            <a:ext cx="3561037" cy="2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5513" y="2700000"/>
            <a:ext cx="600000" cy="600000"/>
          </a:xfrm>
          <a:prstGeom prst="ellipse">
            <a:avLst/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5513" y="2700000"/>
            <a:ext cx="6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4994" y="3500000"/>
            <a:ext cx="3561037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4E4454"/>
                </a:solidFill>
                <a:latin typeface="Yu Gothic"/>
              </a:rPr>
              <a:t>大手グループ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4994" y="4100000"/>
            <a:ext cx="3161037" cy="600000"/>
          </a:xfrm>
          <a:prstGeom prst="roundRect">
            <a:avLst>
              <a:gd name="adj" fmla="val 15000"/>
            </a:avLst>
          </a:prstGeom>
          <a:solidFill>
            <a:srgbClr val="FFF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4994" y="4100000"/>
            <a:ext cx="3161037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6B6272"/>
                </a:solidFill>
                <a:latin typeface="Yu Gothic"/>
              </a:rPr>
              <a:t>安定した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6B6272"/>
                </a:solidFill>
                <a:latin typeface="Yu Gothic"/>
              </a:rPr>
              <a:t>バックアップ体制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50000"/>
            <a:ext cx="11183112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8762"/>
                </a:solidFill>
                <a:latin typeface="Yu Gothic"/>
              </a:rPr>
              <a:t>友達や親御さんに聞かれたらこの 3 つを話すだけ！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228600" y="0"/>
            <a:ext cx="0" cy="6858000"/>
          </a:xfrm>
          <a:prstGeom prst="line">
            <a:avLst/>
          </a:prstGeom>
          <a:ln w="12700">
            <a:solidFill>
              <a:srgbClr val="4E44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502920"/>
            <a:ext cx="4800600" cy="685800"/>
          </a:xfrm>
          <a:prstGeom prst="rect">
            <a:avLst/>
          </a:prstGeom>
          <a:solidFill>
            <a:srgbClr val="4E4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457200"/>
            <a:ext cx="480060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4500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4E4454"/>
                </a:solidFill>
                <a:latin typeface="Yu Gothic"/>
              </a:rPr>
              <a:t>⑤　クロージング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94392" y="502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94392" y="50292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8762"/>
                </a:solidFill>
                <a:latin typeface="Yu Gothic"/>
              </a:rPr>
              <a:t>55〜60分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50000"/>
            <a:ext cx="11183112" cy="11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000" y="2120000"/>
            <a:ext cx="2200000" cy="560000"/>
          </a:xfrm>
          <a:prstGeom prst="roundRect">
            <a:avLst>
              <a:gd name="adj" fmla="val 50000"/>
            </a:avLst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000" y="2120000"/>
            <a:ext cx="220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次回日程の共有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0000" y="1850000"/>
            <a:ext cx="8200000" cy="11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E4454"/>
                </a:solidFill>
                <a:latin typeface="Yu Gothic"/>
              </a:rPr>
              <a:t>次回：〇月〇日（対面）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4E4454"/>
                </a:solidFill>
                <a:latin typeface="Yu Gothic"/>
              </a:rPr>
              <a:t>スケジュールに入れてください！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70000"/>
            <a:ext cx="11183112" cy="11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0000" y="3340000"/>
            <a:ext cx="2200000" cy="560000"/>
          </a:xfrm>
          <a:prstGeom prst="roundRect">
            <a:avLst>
              <a:gd name="adj" fmla="val 50000"/>
            </a:avLst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000" y="3340000"/>
            <a:ext cx="220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アンケート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0000" y="3070000"/>
            <a:ext cx="8200000" cy="11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E4454"/>
                </a:solidFill>
                <a:latin typeface="Yu Gothic"/>
              </a:rPr>
              <a:t>チャットのURLから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4E4454"/>
                </a:solidFill>
                <a:latin typeface="Yu Gothic"/>
              </a:rPr>
              <a:t>1分で回答できます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290000"/>
            <a:ext cx="11183112" cy="11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E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0000" y="4560000"/>
            <a:ext cx="2200000" cy="560000"/>
          </a:xfrm>
          <a:prstGeom prst="roundRect">
            <a:avLst>
              <a:gd name="adj" fmla="val 50000"/>
            </a:avLst>
          </a:prstGeom>
          <a:solidFill>
            <a:srgbClr val="FF8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000" y="4560000"/>
            <a:ext cx="220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連絡先の共有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0000" y="4290000"/>
            <a:ext cx="8200000" cy="11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E4454"/>
                </a:solidFill>
                <a:latin typeface="Yu Gothic"/>
              </a:rPr>
              <a:t>何かあれば遠慮なく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4E4454"/>
                </a:solidFill>
                <a:latin typeface="Yu Gothic"/>
              </a:rPr>
              <a:t>いつでも連絡してください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750000"/>
            <a:ext cx="11183112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4E4454"/>
                </a:solidFill>
                <a:latin typeface="Yu Gothic"/>
              </a:rPr>
              <a:t>今日はありがとうございました！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