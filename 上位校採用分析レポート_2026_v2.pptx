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06340"/>
            <a:ext cx="12193200" cy="1851660"/>
          </a:xfrm>
          <a:prstGeom prst="rect">
            <a:avLst/>
          </a:prstGeom>
          <a:solidFill>
            <a:srgbClr val="276C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260000"/>
            <a:ext cx="107532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PAゴシック"/>
              </a:rPr>
              <a:t>上位校 採用選考 進捗レポート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7532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FF"/>
                </a:solidFill>
                <a:latin typeface="IPAゴシック"/>
              </a:rPr>
              <a:t>対象期間：2026年1月〜7月　GMARCH以上（上位校）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060000"/>
            <a:ext cx="107532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AACCFF"/>
                </a:solidFill>
                <a:latin typeface="IPAゴシック"/>
              </a:rPr>
              <a:t>集計日：2026年7月2日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3780000"/>
            <a:ext cx="2724300" cy="208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888000"/>
            <a:ext cx="25803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BBFF"/>
                </a:solidFill>
                <a:latin typeface="IPAゴシック"/>
              </a:rPr>
              <a:t>総応募者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IPAゴシック"/>
              </a:rPr>
              <a:t>19名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全大学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8300" y="3780000"/>
            <a:ext cx="2724300" cy="208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6300" y="3888000"/>
            <a:ext cx="25803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BBFF"/>
                </a:solidFill>
                <a:latin typeface="IPAゴシック"/>
              </a:rPr>
              <a:t>上位校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IPAゴシック"/>
              </a:rPr>
              <a:t>4名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GMARCH・関関同立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600" y="3780000"/>
            <a:ext cx="2724300" cy="208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4600" y="3888000"/>
            <a:ext cx="25803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BBFF"/>
                </a:solidFill>
                <a:latin typeface="IPAゴシック"/>
              </a:rPr>
              <a:t>選考中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IPAゴシック"/>
              </a:rPr>
              <a:t>18名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説明会WEB選考中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4900" y="3780000"/>
            <a:ext cx="2724300" cy="208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2900" y="3888000"/>
            <a:ext cx="25803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BBFF"/>
                </a:solidFill>
                <a:latin typeface="IPAゴシック"/>
              </a:rPr>
              <a:t>辞退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IPAゴシック"/>
              </a:rPr>
              <a:t>1名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説明会前辞退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上位校 定義一覧（GMARCH以上）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936000"/>
            <a:ext cx="2294640" cy="540000"/>
          </a:xfrm>
          <a:prstGeom prst="rect">
            <a:avLst/>
          </a:prstGeom>
          <a:solidFill>
            <a:srgbClr val="E8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000" y="972000"/>
            <a:ext cx="2258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ゴシック"/>
              </a:rPr>
              <a:t>■ 旧帝国大学・最難関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154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000" y="158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東京大学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214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000" y="217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京都大学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2736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000" y="2772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大阪大学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000" y="3330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000" y="3366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東北大学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6000" y="3924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000" y="3960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名古屋大学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000" y="451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000" y="455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九州大学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000" y="511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000" y="514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北海道大学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6640" y="936000"/>
            <a:ext cx="2294640" cy="540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2640" y="972000"/>
            <a:ext cx="2258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ゴシック"/>
              </a:rPr>
              <a:t>■ 私立最難関（早慶）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82640" y="154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8640" y="158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慶應義塾大学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82640" y="214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18640" y="217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早稲田大学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3280" y="936000"/>
            <a:ext cx="2294640" cy="540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9280" y="972000"/>
            <a:ext cx="2258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ゴシック"/>
              </a:rPr>
              <a:t>■ 準難関私立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49280" y="154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85280" y="158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上智大学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49280" y="214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5280" y="217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東京理科大学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49280" y="2736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85280" y="2772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国際基督教大学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9920" y="936000"/>
            <a:ext cx="2294640" cy="540000"/>
          </a:xfrm>
          <a:prstGeom prst="rect">
            <a:avLst/>
          </a:prstGeom>
          <a:solidFill>
            <a:srgbClr val="1F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920" y="972000"/>
            <a:ext cx="2258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ゴシック"/>
              </a:rPr>
              <a:t>■ GMARCH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920" y="154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51920" y="158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学習院大学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920" y="214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51920" y="217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明治大学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920" y="2736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920" y="2772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青山学院大学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920" y="3330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51920" y="3366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立教大学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920" y="3924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51920" y="3960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中央大学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920" y="451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920" y="455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法政大学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560" y="936000"/>
            <a:ext cx="2294640" cy="54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82560" y="972000"/>
            <a:ext cx="2258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ゴシック"/>
              </a:rPr>
              <a:t>■ 関関同立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82560" y="1548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8560" y="1584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関西大学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82560" y="2142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18560" y="2178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関西学院大学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2560" y="2736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18560" y="2772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同志社大学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82560" y="3330000"/>
            <a:ext cx="22586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18560" y="3366000"/>
            <a:ext cx="218664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立命館大学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サマリー：上位校　選考進捗（2026年1〜7月）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936000"/>
            <a:ext cx="2868300" cy="136800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000" y="1044000"/>
            <a:ext cx="27243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7AE60"/>
                </a:solidFill>
                <a:latin typeface="IPAゴシック"/>
              </a:rPr>
              <a:t>上位校応募者数</a:t>
            </a:r>
          </a:p>
          <a:p>
            <a:pPr algn="ctr"/>
            <a:r>
              <a:rPr sz="3000" b="1">
                <a:solidFill>
                  <a:srgbClr val="1F3564"/>
                </a:solidFill>
                <a:latin typeface="IPAゴシック"/>
              </a:rPr>
              <a:t>4名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関関同立2・MARCH2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0300" y="936000"/>
            <a:ext cx="2868300" cy="1368000"/>
          </a:xfrm>
          <a:prstGeom prst="rect">
            <a:avLst/>
          </a:prstGeom>
          <a:solidFill>
            <a:srgbClr val="FFFFFF"/>
          </a:solidFill>
          <a:ln w="381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92300" y="1044000"/>
            <a:ext cx="27243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全体応募者数</a:t>
            </a:r>
          </a:p>
          <a:p>
            <a:pPr algn="ctr"/>
            <a:r>
              <a:rPr sz="3000" b="1">
                <a:solidFill>
                  <a:srgbClr val="1F3564"/>
                </a:solidFill>
                <a:latin typeface="IPAゴシック"/>
              </a:rPr>
              <a:t>19名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全応募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0600" y="936000"/>
            <a:ext cx="2868300" cy="1368000"/>
          </a:xfrm>
          <a:prstGeom prst="rect">
            <a:avLst/>
          </a:prstGeom>
          <a:solidFill>
            <a:srgbClr val="FFFFFF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600" y="1044000"/>
            <a:ext cx="27243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A623"/>
                </a:solidFill>
                <a:latin typeface="IPAゴシック"/>
              </a:rPr>
              <a:t>現在選考中</a:t>
            </a:r>
          </a:p>
          <a:p>
            <a:pPr algn="ctr"/>
            <a:r>
              <a:rPr sz="3000" b="1">
                <a:solidFill>
                  <a:srgbClr val="1F3564"/>
                </a:solidFill>
                <a:latin typeface="IPAゴシック"/>
              </a:rPr>
              <a:t>18名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説明会WEB選考中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900" y="936000"/>
            <a:ext cx="2868300" cy="1368000"/>
          </a:xfrm>
          <a:prstGeom prst="rect">
            <a:avLst/>
          </a:prstGeom>
          <a:solidFill>
            <a:srgbClr val="FFFFFF"/>
          </a:solidFill>
          <a:ln w="381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72900" y="1044000"/>
            <a:ext cx="27243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5D5D"/>
                </a:solidFill>
                <a:latin typeface="IPAゴシック"/>
              </a:rPr>
              <a:t>辞退</a:t>
            </a:r>
          </a:p>
          <a:p>
            <a:pPr algn="ctr"/>
            <a:r>
              <a:rPr sz="3000" b="1">
                <a:solidFill>
                  <a:srgbClr val="1F3564"/>
                </a:solidFill>
                <a:latin typeface="IPAゴシック"/>
              </a:rPr>
              <a:t>1名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説明会実施前辞退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44000" y="2412000"/>
          <a:ext cx="9540000" cy="4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864000"/>
                <a:gridCol w="864000"/>
                <a:gridCol w="1152000"/>
                <a:gridCol w="1152000"/>
                <a:gridCol w="864000"/>
                <a:gridCol w="864000"/>
                <a:gridCol w="1800000"/>
              </a:tblGrid>
              <a:tr h="8604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選考ステップ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対象者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辞退(実施前)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辞退(実施後)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通過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不合格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備考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8604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564"/>
                          </a:solidFill>
                          <a:latin typeface="IPAゴシック"/>
                        </a:rPr>
                        <a:t>説明会兼WEB選考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19名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7AE60"/>
                          </a:solidFill>
                          <a:latin typeface="IPAゴシック"/>
                        </a:rPr>
                        <a:t>18名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E85D5D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選考開始段階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564"/>
                          </a:solidFill>
                          <a:latin typeface="IPAゴシック"/>
                        </a:rPr>
                        <a:t>一次選考(WEB)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8604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564"/>
                          </a:solidFill>
                          <a:latin typeface="IPAゴシック"/>
                        </a:rPr>
                        <a:t>二次選考(WEBor対面)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未実施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564"/>
                          </a:solidFill>
                          <a:latin typeface="IPAゴシック"/>
                        </a:rPr>
                        <a:t>最終選考(対面)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AAAAAA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選考ファネル：全体応募〜現在の選考状況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864000"/>
            <a:ext cx="118332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E85D5D"/>
                </a:solidFill>
                <a:latin typeface="IPAゴシック"/>
              </a:rPr>
              <a:t>※ 現在ほぼ全員が説明会兼WEB選考の選考中フェーズ（2026年1〜7月集計）</a:t>
            </a:r>
          </a:p>
        </p:txBody>
      </p:sp>
      <p:pic>
        <p:nvPicPr>
          <p:cNvPr id="6" name="Picture 5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224000"/>
            <a:ext cx="10753200" cy="541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大学グループ別　応募者数</a:t>
            </a:r>
          </a:p>
        </p:txBody>
      </p:sp>
      <p:pic>
        <p:nvPicPr>
          <p:cNvPr id="5" name="Picture 4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36000"/>
            <a:ext cx="7072055" cy="563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920" y="1080000"/>
            <a:ext cx="4511484" cy="53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564"/>
                </a:solidFill>
                <a:latin typeface="IPAゴシック"/>
              </a:rPr>
              <a:t>【上位校内訳】</a:t>
            </a:r>
          </a:p>
          <a:p>
            <a:r>
              <a:rPr sz="1800" b="1">
                <a:solidFill>
                  <a:srgbClr val="1F3564"/>
                </a:solidFill>
                <a:latin typeface="IPAゴシック"/>
              </a:rPr>
              <a:t>関西学院大学　2名</a:t>
            </a:r>
          </a:p>
          <a:p>
            <a:r>
              <a:rPr sz="1800" b="1">
                <a:solidFill>
                  <a:srgbClr val="1F3564"/>
                </a:solidFill>
                <a:latin typeface="IPAゴシック"/>
              </a:rPr>
              <a:t>明治大学　　　1名</a:t>
            </a:r>
          </a:p>
          <a:p>
            <a:r>
              <a:rPr sz="1800" b="1">
                <a:solidFill>
                  <a:srgbClr val="1F3564"/>
                </a:solidFill>
                <a:latin typeface="IPAゴシック"/>
              </a:rPr>
              <a:t>同志社大学　　1名</a:t>
            </a:r>
          </a:p>
          <a:p>
            <a:r>
              <a:rPr sz="600" b="0">
                <a:solidFill>
                  <a:srgbClr val="1F3564"/>
                </a:solidFill>
                <a:latin typeface="IPAゴシック"/>
              </a:rPr>
              <a:t/>
            </a:r>
          </a:p>
          <a:p>
            <a:r>
              <a:rPr sz="1400" b="1">
                <a:solidFill>
                  <a:srgbClr val="E85D5D"/>
                </a:solidFill>
                <a:latin typeface="IPAゴシック"/>
              </a:rPr>
              <a:t>【ポイント】</a:t>
            </a:r>
          </a:p>
          <a:p>
            <a:r>
              <a:rPr sz="1300" b="0">
                <a:solidFill>
                  <a:srgbClr val="1F3564"/>
                </a:solidFill>
                <a:latin typeface="IPAゴシック"/>
              </a:rPr>
              <a:t>・上位校比率：21%（4名/19名）</a:t>
            </a:r>
          </a:p>
          <a:p>
            <a:r>
              <a:rPr sz="1300" b="0">
                <a:solidFill>
                  <a:srgbClr val="AAAAAA"/>
                </a:solidFill>
                <a:latin typeface="IPAゴシック"/>
              </a:rPr>
              <a:t>・旧帝大・早慶・学習院は応募なし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上位校　個別大学別　応募者数</a:t>
            </a:r>
          </a:p>
        </p:txBody>
      </p:sp>
      <p:pic>
        <p:nvPicPr>
          <p:cNvPr id="5" name="Picture 4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080000"/>
            <a:ext cx="6706260" cy="54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93988" y="1224000"/>
            <a:ext cx="4633416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7AE60"/>
                </a:solidFill>
                <a:latin typeface="IPAゴシック"/>
              </a:rPr>
              <a:t>【全員 選考中】</a:t>
            </a:r>
          </a:p>
          <a:p>
            <a:r>
              <a:rPr sz="1400" b="1">
                <a:solidFill>
                  <a:srgbClr val="1F3564"/>
                </a:solidFill>
                <a:latin typeface="IPAゴシック"/>
              </a:rPr>
              <a:t>関西学院大学（経済学部）</a:t>
            </a:r>
          </a:p>
          <a:p>
            <a:r>
              <a:rPr sz="1400" b="1">
                <a:solidFill>
                  <a:srgbClr val="1F3564"/>
                </a:solidFill>
                <a:latin typeface="IPAゴシック"/>
              </a:rPr>
              <a:t>関西学院大学（文学部）</a:t>
            </a:r>
          </a:p>
          <a:p>
            <a:r>
              <a:rPr sz="1400" b="1">
                <a:solidFill>
                  <a:srgbClr val="1F3564"/>
                </a:solidFill>
                <a:latin typeface="IPAゴシック"/>
              </a:rPr>
              <a:t>明治大学（商学部）</a:t>
            </a:r>
          </a:p>
          <a:p>
            <a:r>
              <a:rPr sz="1400" b="1">
                <a:solidFill>
                  <a:srgbClr val="1F3564"/>
                </a:solidFill>
                <a:latin typeface="IPAゴシック"/>
              </a:rPr>
              <a:t>同志社大学（文化情報学部）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選考ステータス内訳（全応募者）</a:t>
            </a:r>
          </a:p>
        </p:txBody>
      </p:sp>
      <p:pic>
        <p:nvPicPr>
          <p:cNvPr id="5" name="Picture 4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5365008" cy="5706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30804" y="936000"/>
          <a:ext cx="6096600" cy="570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3130"/>
                <a:gridCol w="914490"/>
                <a:gridCol w="1828980"/>
              </a:tblGrid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大学名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上位校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ステータス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関西学院大学(×2)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5A623"/>
                          </a:solidFill>
                          <a:latin typeface="IPAゴシック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明治大学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5A623"/>
                          </a:solidFill>
                          <a:latin typeface="IPAゴシック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同志社大学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5A623"/>
                          </a:solidFill>
                          <a:latin typeface="IPAゴシック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駒澤大学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5D5D"/>
                          </a:solidFill>
                          <a:latin typeface="IPAゴシック"/>
                        </a:rPr>
                        <a:t>辞退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専修大学(×2)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神奈川大学(×2)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日本大学(×2)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その他（計10名）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辞退分析：理由・タイミング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936000"/>
            <a:ext cx="114732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85D5D"/>
                </a:solidFill>
                <a:latin typeface="IPAゴシック"/>
              </a:rPr>
              <a:t>辞退者：1名（説明会実施前辞退）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4000" y="1332000"/>
          <a:ext cx="1183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40000"/>
                <a:gridCol w="2340000"/>
                <a:gridCol w="6253200"/>
              </a:tblGrid>
              <a:tr h="57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ステップ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辞退タイミング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辞退理由分類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辞退理由詳細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説明会兼WEB選考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85D5D"/>
                          </a:solidFill>
                          <a:latin typeface="IPAゴシック"/>
                        </a:rPr>
                        <a:t>実施前辞退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働き方・制度・カルチャー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3564"/>
                          </a:solidFill>
                          <a:latin typeface="IPAゴシック"/>
                        </a:rPr>
                        <a:t>会社説明会前：自身の軸と合わないと感じたため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44000" y="2700000"/>
            <a:ext cx="3812400" cy="4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000" y="2808000"/>
            <a:ext cx="3632401" cy="390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説明会兼WEB選考</a:t>
            </a:r>
          </a:p>
          <a:p>
            <a:pPr algn="ctr"/>
            <a:r>
              <a:rPr sz="1700" b="1">
                <a:solidFill>
                  <a:srgbClr val="E85D5D"/>
                </a:solidFill>
                <a:latin typeface="IPAゴシック"/>
              </a:rPr>
              <a:t>実施前辞退：1名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ゴシック"/>
              </a:rPr>
              <a:t>実施後辞退：0名</a:t>
            </a:r>
          </a:p>
          <a:p>
            <a:r>
              <a:rPr sz="1100" b="0">
                <a:solidFill>
                  <a:srgbClr val="555555"/>
                </a:solidFill>
                <a:latin typeface="IPAゴシック"/>
              </a:rPr>
              <a:t>説明会前の離脱
参加後の辞退はなし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8400" y="2700000"/>
            <a:ext cx="3812400" cy="4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6400" y="2808000"/>
            <a:ext cx="3632401" cy="390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一次選考(WEB)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ゴシック"/>
              </a:rPr>
              <a:t>実施前辞退：0名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ゴシック"/>
              </a:rPr>
              <a:t>実施後辞退：0名</a:t>
            </a:r>
          </a:p>
          <a:p>
            <a:r>
              <a:rPr sz="1100" b="0">
                <a:solidFill>
                  <a:srgbClr val="555555"/>
                </a:solidFill>
                <a:latin typeface="IPAゴシック"/>
              </a:rPr>
              <a:t>未実施（選考前フェーズ）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12800" y="2700000"/>
            <a:ext cx="3812400" cy="4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0800" y="2808000"/>
            <a:ext cx="3632401" cy="390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564"/>
                </a:solidFill>
                <a:latin typeface="IPAゴシック"/>
              </a:rPr>
              <a:t>最終選考(対面)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ゴシック"/>
              </a:rPr>
              <a:t>実施前辞退：0名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ゴシック"/>
              </a:rPr>
              <a:t>実施後辞退：0名</a:t>
            </a:r>
          </a:p>
          <a:p>
            <a:r>
              <a:rPr sz="1100" b="0">
                <a:solidFill>
                  <a:srgbClr val="555555"/>
                </a:solidFill>
                <a:latin typeface="IPAゴシック"/>
              </a:rPr>
              <a:t>未実施（選考前フェーズ）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IPAゴシック"/>
              </a:rPr>
              <a:t>エージェント（人材紹介会社）別　応募状況</a:t>
            </a:r>
          </a:p>
        </p:txBody>
      </p:sp>
      <p:pic>
        <p:nvPicPr>
          <p:cNvPr id="5" name="Picture 4" descr="agen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36000"/>
            <a:ext cx="6584328" cy="5634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06260" y="972000"/>
          <a:ext cx="5243073" cy="56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091"/>
                <a:gridCol w="786461"/>
                <a:gridCol w="786461"/>
                <a:gridCol w="681599"/>
                <a:gridCol w="786461"/>
              </a:tblGrid>
              <a:tr h="11268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エージェント企業名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紹介数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辞退率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11268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レバレジーズ株式会社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16名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15名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5D5D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268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キャリアスタート株式会社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ゴシック"/>
                        </a:rPr>
                        <a:t>0名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ゴシック"/>
                        </a:rPr>
                        <a:t>0.0%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11268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株式会社キャリタス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ゴシック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ゴシック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26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合計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19名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18名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5.3%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