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1260000"/>
            <a:ext cx="1075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IPAゴシック"/>
              </a:rPr>
              <a:t>説明会改善効果検証レポート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520000"/>
            <a:ext cx="1075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BBF24"/>
                </a:solidFill>
                <a:latin typeface="IPAゴシック"/>
              </a:rPr>
              <a:t>【上位校（GMARCH以上）限定分析】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3168000"/>
            <a:ext cx="107532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IPAゴシック"/>
              </a:rPr>
              <a:t>変更前：2026年1月1日〜4月30日 ／ 変更後：2026年5月1日〜現在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3600000"/>
            <a:ext cx="1075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IPAゴシック"/>
              </a:rPr>
              <a:t>対象求人：【27新卒】営業職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4500000"/>
            <a:ext cx="2700000" cy="1620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4536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ゴシック"/>
              </a:rPr>
              <a:t>変更前 応募数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4968000"/>
            <a:ext cx="25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ゴシック"/>
              </a:rPr>
              <a:t>17名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1999" y="4500000"/>
            <a:ext cx="2700000" cy="162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999" y="4536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ゴシック"/>
              </a:rPr>
              <a:t>変更後 応募数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999" y="4968000"/>
            <a:ext cx="25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ゴシック"/>
              </a:rPr>
              <a:t>46名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999" y="4500000"/>
            <a:ext cx="2700000" cy="1620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5999" y="4536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ゴシック"/>
              </a:rPr>
              <a:t>説明会 参加率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5999" y="4968000"/>
            <a:ext cx="25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ゴシック"/>
              </a:rPr>
              <a:t>変更前88.2% → 変更後80.4%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6000" y="4500000"/>
            <a:ext cx="2700000" cy="1620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7999" y="4536000"/>
            <a:ext cx="25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ゴシック"/>
              </a:rPr>
              <a:t>1次 通過率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7999" y="4968000"/>
            <a:ext cx="25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PAゴシック"/>
              </a:rPr>
              <a:t>変更前66.7% → 変更後45.9%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6426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IPAゴシック"/>
              </a:rPr>
              <a:t>作成日: 2026年7月2日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変更概要</a:t>
            </a:r>
            <a:r>
              <a:rPr sz="1100" b="0">
                <a:solidFill>
                  <a:srgbClr val="94A3B8"/>
                </a:solidFill>
                <a:latin typeface="IPAゴシック"/>
              </a:rPr>
              <a:t>  説明会担当者・内容の変更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827999"/>
            <a:ext cx="5580000" cy="57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6000" y="882000"/>
            <a:ext cx="54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PAゴシック"/>
              </a:rPr>
              <a:t>変更前　2026年1月1日〜4月30日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1512000"/>
            <a:ext cx="55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1565999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担当者: 変更前担当者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2232000"/>
            <a:ext cx="5580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228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形式: 従来型説明会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2951999"/>
            <a:ext cx="55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000" y="300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対象期間の上位校応募者: 17名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3671999"/>
            <a:ext cx="5580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372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説明会参加率: 88.2%（15/17名）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00" y="4392000"/>
            <a:ext cx="55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000" y="444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実施前辞退(1次): 2名（11.8%）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5112000"/>
            <a:ext cx="5580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000" y="516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1次通過率: 66.7%（10/15名）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827999"/>
            <a:ext cx="5580000" cy="576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8000" y="882000"/>
            <a:ext cx="54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PAゴシック"/>
              </a:rPr>
              <a:t>変更後　2026年5月1日〜現在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0000" y="1512000"/>
            <a:ext cx="55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999" y="1565999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担当者: 変更後担当者（内容・担当者変更）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000" y="2232000"/>
            <a:ext cx="5580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999" y="228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形式: 改善後説明会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000" y="2951999"/>
            <a:ext cx="55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999" y="300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対象期間の上位校応募者: 46名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3671999"/>
            <a:ext cx="5580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3999" y="372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説明会参加率: 80.4%（37/46名）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000" y="4392000"/>
            <a:ext cx="5580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3999" y="444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実施前辞退(1次): 9名（19.6%）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0000" y="5112000"/>
            <a:ext cx="5580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3999" y="5166000"/>
            <a:ext cx="536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latin typeface="IPAゴシック"/>
              </a:rPr>
              <a:t>1次通過率: 45.9%（17/37名）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00" y="6408000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IPAゴシック"/>
              </a:rPr>
              <a:t>※ 各数値は上位校（GMARCH以上22大学）のみを集計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上位校 応募者数比較</a:t>
            </a:r>
            <a:r>
              <a:rPr sz="1100" b="0">
                <a:solidFill>
                  <a:srgbClr val="94A3B8"/>
                </a:solidFill>
                <a:latin typeface="IPAゴシック"/>
              </a:rPr>
              <a:t>  変更前 vs 変更後</a:t>
            </a:r>
          </a:p>
        </p:txBody>
      </p:sp>
      <p:pic>
        <p:nvPicPr>
          <p:cNvPr id="4" name="Picture 3" descr="応募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827999"/>
            <a:ext cx="5040000" cy="324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660000" y="900000"/>
            <a:ext cx="5220000" cy="14400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2000" y="954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IPAゴシック"/>
              </a:rPr>
              <a:t>▌ 応募数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2000" y="13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変更後は変更前比 ×2.7倍 の応募を獲得</a:t>
            </a:r>
          </a:p>
        </p:txBody>
      </p:sp>
      <p:sp>
        <p:nvSpPr>
          <p:cNvPr id="8" name="Rectangle 7"/>
          <p:cNvSpPr/>
          <p:nvPr/>
        </p:nvSpPr>
        <p:spPr>
          <a:xfrm>
            <a:off x="6660000" y="2520000"/>
            <a:ext cx="5220000" cy="14400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32000" y="2574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IPAゴシック"/>
              </a:rPr>
              <a:t>▌ 参加状況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2000" y="2951999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変更前: 選考中4名を含む17名
変更後: 選考中22名を含む46名（進行中多数）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0000" y="4140000"/>
            <a:ext cx="5220000" cy="1440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2000" y="4194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IPAゴシック"/>
              </a:rPr>
              <a:t>▌ 注意事項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2000" y="457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変更後期間は現在も選考継続中のため
最終的な数値は今後さらに変動する可能性あり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説明会 参加率・1次通過率 比較</a:t>
            </a:r>
          </a:p>
        </p:txBody>
      </p:sp>
      <p:pic>
        <p:nvPicPr>
          <p:cNvPr id="4" name="Picture 3" descr="参加通過率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27999"/>
            <a:ext cx="6840000" cy="306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40000" y="900000"/>
            <a:ext cx="1782000" cy="64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6000" y="1007999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PAゴシック"/>
              </a:rPr>
              <a:t>指標</a:t>
            </a:r>
          </a:p>
        </p:txBody>
      </p:sp>
      <p:sp>
        <p:nvSpPr>
          <p:cNvPr id="7" name="Rectangle 6"/>
          <p:cNvSpPr/>
          <p:nvPr/>
        </p:nvSpPr>
        <p:spPr>
          <a:xfrm>
            <a:off x="9540000" y="900000"/>
            <a:ext cx="1242000" cy="64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6000" y="1007999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PAゴシック"/>
              </a:rPr>
              <a:t>変更前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00000" y="900000"/>
            <a:ext cx="1242000" cy="64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36000" y="1007999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PAゴシック"/>
              </a:rPr>
              <a:t>変更後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60000" y="900000"/>
            <a:ext cx="1242000" cy="64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96000" y="1007999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PAゴシック"/>
              </a:rPr>
              <a:t>変化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1584000"/>
            <a:ext cx="178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6000" y="1692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応募者数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40000" y="1584000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6000" y="1692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17名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00000" y="1584000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36000" y="1692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46名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60000" y="1584000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96000" y="1692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6A34A"/>
                </a:solidFill>
                <a:latin typeface="IPAゴシック"/>
              </a:rPr>
              <a:t>＋29名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0000" y="2268000"/>
            <a:ext cx="178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6000" y="2376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説明会参加数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40000" y="2268000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76000" y="2376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15名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00000" y="2268000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36000" y="2376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37名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60000" y="2268000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96000" y="2376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6A34A"/>
                </a:solidFill>
                <a:latin typeface="IPAゴシック"/>
              </a:rPr>
              <a:t>＋22名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0000" y="2951999"/>
            <a:ext cx="178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6000" y="3060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参加率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40000" y="2951999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6000" y="3060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88.2%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00000" y="2951999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6000" y="3060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80.4%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060000" y="2951999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096000" y="3060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2626"/>
                </a:solidFill>
                <a:latin typeface="IPAゴシック"/>
              </a:rPr>
              <a:t>▼7.8pt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40000" y="3636000"/>
            <a:ext cx="178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6000" y="3744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実施前辞退(1次)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0000" y="3636000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76000" y="3744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2名(11.8%)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00000" y="3636000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36000" y="3744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9名(19.6%)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060000" y="3636000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096000" y="3744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2626"/>
                </a:solidFill>
                <a:latin typeface="IPAゴシック"/>
              </a:rPr>
              <a:t>▲7.8pt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40000" y="4320000"/>
            <a:ext cx="178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6000" y="4428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1次通過数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40000" y="4320000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76000" y="4428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10名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800000" y="4320000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836000" y="4428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17名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060000" y="4320000"/>
            <a:ext cx="1242000" cy="64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096000" y="4428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6A34A"/>
                </a:solidFill>
                <a:latin typeface="IPAゴシック"/>
              </a:rPr>
              <a:t>＋7名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40000" y="5003999"/>
            <a:ext cx="178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6000" y="5112000"/>
            <a:ext cx="172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1次通過率(参加比)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40000" y="5003999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6000" y="5112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66.7%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800000" y="5003999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36000" y="5112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45.9%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060000" y="5003999"/>
            <a:ext cx="1242000" cy="64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096000" y="5112000"/>
            <a:ext cx="118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C2626"/>
                </a:solidFill>
                <a:latin typeface="IPAゴシック"/>
              </a:rPr>
              <a:t>▼20.8pt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各選考段階 実施前辞退 詳細</a:t>
            </a:r>
            <a:r>
              <a:rPr sz="1100" b="0">
                <a:solidFill>
                  <a:srgbClr val="94A3B8"/>
                </a:solidFill>
                <a:latin typeface="IPAゴシック"/>
              </a:rPr>
              <a:t>  参加前に辞退した人数・率</a:t>
            </a:r>
          </a:p>
        </p:txBody>
      </p:sp>
      <p:pic>
        <p:nvPicPr>
          <p:cNvPr id="4" name="Picture 3" descr="実施前辞退率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792000"/>
            <a:ext cx="7560000" cy="32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0" y="900000"/>
            <a:ext cx="41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IPAゴシック"/>
              </a:rPr>
              <a:t>段階別詳細 (実施前辞退 / 実施後辞退 / 通過)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0" y="1044000"/>
            <a:ext cx="3743999" cy="216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92000" y="1062000"/>
            <a:ext cx="3635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PAゴシック"/>
              </a:rPr>
              <a:t>変更前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0" y="1260000"/>
            <a:ext cx="1429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8000" y="1296000"/>
            <a:ext cx="140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ステージ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60000" y="1260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8000" y="1296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到達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36000" y="1260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54000" y="1296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実前辞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2000" y="1260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30000" y="1296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実後辞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88000" y="1260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06000" y="1296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通過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0" y="1602000"/>
            <a:ext cx="1429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8000" y="1638000"/>
            <a:ext cx="14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1次(説明会)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60000" y="1602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8000" y="163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36000" y="1602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54000" y="163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C2626"/>
                </a:solidFill>
                <a:latin typeface="IPAゴシック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2000" y="1602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30000" y="163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88000" y="1602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06000" y="163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0" y="1998000"/>
            <a:ext cx="1429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38000" y="2034000"/>
            <a:ext cx="14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2次(一次選考WEB)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60000" y="1998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8000" y="2034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36000" y="1998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4000" y="2034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C2626"/>
                </a:solidFill>
                <a:latin typeface="IPAゴシック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2000" y="1998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30000" y="2034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88000" y="1998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06000" y="2034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0" y="2394000"/>
            <a:ext cx="1429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38000" y="2430000"/>
            <a:ext cx="14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3次(最終選考)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60000" y="2394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8000" y="2430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36000" y="2394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54000" y="2430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C2626"/>
                </a:solidFill>
                <a:latin typeface="IPAゴシック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512000" y="2394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0000" y="2430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88000" y="2394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106000" y="2430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0000" y="2592000"/>
            <a:ext cx="3743999" cy="216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92000" y="2610000"/>
            <a:ext cx="3635999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PAゴシック"/>
              </a:rPr>
              <a:t>変更後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20000" y="2808000"/>
            <a:ext cx="1429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38000" y="2844000"/>
            <a:ext cx="140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ステージ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60000" y="2808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78000" y="2844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到達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36000" y="2808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54000" y="2844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実前辞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12000" y="2808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30000" y="2844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実後辞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088000" y="2808000"/>
            <a:ext cx="565200" cy="324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106000" y="2844000"/>
            <a:ext cx="5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latin typeface="IPAゴシック"/>
              </a:rPr>
              <a:t>通過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20000" y="3150000"/>
            <a:ext cx="1429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38000" y="3186000"/>
            <a:ext cx="14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1次(説明会)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60000" y="3150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78000" y="318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46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36000" y="3150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54000" y="318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C2626"/>
                </a:solidFill>
                <a:latin typeface="IPAゴシック"/>
              </a:rPr>
              <a:t>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512000" y="3150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30000" y="318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EA580C"/>
                </a:solidFill>
                <a:latin typeface="IPAゴシック"/>
              </a:rPr>
              <a:t>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088000" y="3150000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106000" y="3186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20000" y="3546000"/>
            <a:ext cx="1429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38000" y="3581999"/>
            <a:ext cx="14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2次(一次選考WEB)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60000" y="3546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78000" y="3581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17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936000" y="3546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954000" y="3581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DC2626"/>
                </a:solidFill>
                <a:latin typeface="IPAゴシック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12000" y="3546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30000" y="3581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088000" y="3546000"/>
            <a:ext cx="565200" cy="3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106000" y="3581999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920000" y="3941999"/>
            <a:ext cx="1429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938000" y="3978000"/>
            <a:ext cx="14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3次(最終選考)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60000" y="3941999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78000" y="397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36000" y="3941999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54000" y="397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12000" y="3941999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30000" y="397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1088000" y="3941999"/>
            <a:ext cx="565200" cy="36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106000" y="3978000"/>
            <a:ext cx="5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latin typeface="IPAゴシック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8000" y="6048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IPAゴシック"/>
              </a:rPr>
              <a:t>※実施前辞退：そのステップに到達したが実施日前に辞退した人数
※実施後辞退：実施日以降に辞退した人数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選考ファネル 変更前後比較</a:t>
            </a:r>
          </a:p>
        </p:txBody>
      </p:sp>
      <p:pic>
        <p:nvPicPr>
          <p:cNvPr id="4" name="Picture 3" descr="ファネル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827999"/>
            <a:ext cx="7560000" cy="288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100000" y="900000"/>
            <a:ext cx="1782000" cy="6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6000" y="1007999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PAゴシック"/>
              </a:rPr>
              <a:t>段階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0000" y="900000"/>
            <a:ext cx="1422000" cy="6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6000" y="1007999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PAゴシック"/>
              </a:rPr>
              <a:t>変更前</a:t>
            </a:r>
          </a:p>
        </p:txBody>
      </p:sp>
      <p:sp>
        <p:nvSpPr>
          <p:cNvPr id="9" name="Rectangle 8"/>
          <p:cNvSpPr/>
          <p:nvPr/>
        </p:nvSpPr>
        <p:spPr>
          <a:xfrm>
            <a:off x="11340000" y="900000"/>
            <a:ext cx="1422000" cy="6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76000" y="1007999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PAゴシック"/>
              </a:rPr>
              <a:t>変更後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0000" y="1620000"/>
            <a:ext cx="178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0" y="1728000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応募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00000" y="1620000"/>
            <a:ext cx="142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6000" y="172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17名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40000" y="1620000"/>
            <a:ext cx="142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76000" y="172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46名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0000" y="2340000"/>
            <a:ext cx="178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6000" y="2448000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説明会参加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00000" y="2340000"/>
            <a:ext cx="142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6000" y="244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15名 (88.2%)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340000" y="2340000"/>
            <a:ext cx="142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76000" y="244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37名 (80.4%)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0000" y="3060000"/>
            <a:ext cx="178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6000" y="3168000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1次通過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3060000"/>
            <a:ext cx="142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6000" y="316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10名 (66.7%)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340000" y="3060000"/>
            <a:ext cx="142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76000" y="316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17名 (45.9%)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00000" y="3780000"/>
            <a:ext cx="178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6000" y="3888000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2次通過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3780000"/>
            <a:ext cx="142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6000" y="388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6名 (100.0%)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340000" y="3780000"/>
            <a:ext cx="142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6000" y="388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5名 (35.7%)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00000" y="4500000"/>
            <a:ext cx="178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6000" y="4608000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3次/最終通過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00000" y="4500000"/>
            <a:ext cx="142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6000" y="460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1名 (16.7%)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340000" y="4500000"/>
            <a:ext cx="1422000" cy="684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76000" y="460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0名 (選考中3名)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00000" y="5220000"/>
            <a:ext cx="178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6000" y="5328000"/>
            <a:ext cx="172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内定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00000" y="5220000"/>
            <a:ext cx="142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36000" y="532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1名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340000" y="5220000"/>
            <a:ext cx="1422000" cy="68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376000" y="5328000"/>
            <a:ext cx="136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latin typeface="IPAゴシック"/>
              </a:rPr>
              <a:t>0名（集計中）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" y="6083999"/>
            <a:ext cx="11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IPAゴシック"/>
              </a:rPr>
              <a:t>※通過率は実施前辞退を除いた参加者を分母として計算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エージェント別 上位校応募状況</a:t>
            </a:r>
          </a:p>
        </p:txBody>
      </p:sp>
      <p:pic>
        <p:nvPicPr>
          <p:cNvPr id="4" name="Picture 3" descr="エージェン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827999"/>
            <a:ext cx="11520000" cy="32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0000" y="4500000"/>
            <a:ext cx="11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【変更前】レバレジーズ15名・ポート1名・キャリアスタート1名  【変更後】レバレジーズ37名・ポート4名・キャリアスタート2名・Hajimari2名・ネオキャリア1名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0000" y="72000"/>
            <a:ext cx="118332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IPAゴシック"/>
              </a:rPr>
              <a:t>まとめ・次のアクション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827999"/>
            <a:ext cx="5580000" cy="27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8000" y="827999"/>
            <a:ext cx="5580000" cy="28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6000" y="845999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PAゴシック"/>
              </a:rPr>
              <a:t>01  応募者数の増加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224000"/>
            <a:ext cx="540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変更後（5/1〜）は上位校応募者が46名と、変更前の17名比で約2.7倍に増加。
説明会変更後の母集団拡大効果が確認された。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0000" y="827999"/>
            <a:ext cx="5580000" cy="27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0000" y="827999"/>
            <a:ext cx="5580000" cy="28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28000" y="845999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PAゴシック"/>
              </a:rPr>
              <a:t>02  説明会参加率・1次通過率の低下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0" y="1224000"/>
            <a:ext cx="540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参加率：変更前88.2% → 変更後80.4%（▼7.8pt）
1次通過率：変更前66.7% → 変更後45.9%（▼20.8pt）
実施前辞退も増加（1次：変更前11.8% → 変更後19.6%）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3780000"/>
            <a:ext cx="5580000" cy="27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00" y="3780000"/>
            <a:ext cx="5580000" cy="28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000" y="3798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PAゴシック"/>
              </a:rPr>
              <a:t>03  2次以降の実施前辞退が変更前に集中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000" y="4176000"/>
            <a:ext cx="540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変更前：2次実施前辞退4名(40%)・3次実施前辞退3名(50%)と高水準。
変更後：進行中が多く最終的な辞退率は今後変動の可能性あり。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0000" y="3780000"/>
            <a:ext cx="5580000" cy="27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000" y="3780000"/>
            <a:ext cx="5580000" cy="28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8000" y="3798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PAゴシック"/>
              </a:rPr>
              <a:t>04  次のアクション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8000" y="4176000"/>
            <a:ext cx="540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latin typeface="IPAゴシック"/>
              </a:rPr>
              <a:t>① 説明会内容・選考基準の見直し（通過率改善）
② 変更後の最終結果を継続モニタリング（選考中22名の動向把握）
③ 説明会参加後の辞退防止策の検討（参加率維持）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