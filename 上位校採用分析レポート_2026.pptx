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0" y="128016"/>
            <a:ext cx="3502152" cy="6601968"/>
          </a:xfrm>
          <a:prstGeom prst="rect">
            <a:avLst/>
          </a:prstGeom>
          <a:solidFill>
            <a:srgbClr val="1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PAGothic"/>
              </a:rPr>
              <a:t>上位校　採用選考分析レポート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9A227"/>
                </a:solidFill>
                <a:latin typeface="IPAGothic"/>
              </a:rPr>
              <a:t>応募〜最終選考通過　ファネル分析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対象：GMARCH以上（旧帝大・早慶・上智・理科大・ICU・GMARCH・関関同立）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9AABB"/>
                </a:solidFill>
                <a:latin typeface="IPAGothic"/>
              </a:rPr>
              <a:t>2026年6月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645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9A227"/>
                </a:solidFill>
                <a:latin typeface="IPAGothic"/>
              </a:rPr>
              <a:t>総応募者数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57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59名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2926080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30175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9A227"/>
                </a:solidFill>
                <a:latin typeface="IPAGothic"/>
              </a:rPr>
              <a:t>内定者数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429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1名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4297679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43891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9A227"/>
                </a:solidFill>
                <a:latin typeface="IPAGothic"/>
              </a:rPr>
              <a:t>辞退者数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8006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IPAGothic"/>
              </a:rPr>
              <a:t>28名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5669279"/>
            <a:ext cx="274320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サマリー：上位校　選考実績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2026年4月〜6月　募集分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27432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64008" cy="2057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25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応募者数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874519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E3A5F"/>
                </a:solidFill>
                <a:latin typeface="IPAGothic"/>
              </a:rPr>
              <a:t>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34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上位校全体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261872"/>
            <a:ext cx="27432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261872"/>
            <a:ext cx="64008" cy="2057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325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説明会兼面談
通過者数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1874519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4A90D9"/>
                </a:solidFill>
                <a:latin typeface="IPAGothic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2834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通過率 46%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261872"/>
            <a:ext cx="27432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261872"/>
            <a:ext cx="64008" cy="2057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1325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一次選考
通過者数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1874519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C9A227"/>
                </a:solidFill>
                <a:latin typeface="IPAGothic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834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通過率 41%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1261872"/>
            <a:ext cx="27432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0" y="1261872"/>
            <a:ext cx="64008" cy="2057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132588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最終選考
通過者数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1874519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27AE60"/>
                </a:solidFill>
                <a:latin typeface="IPAGoth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71632" y="22860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A4A4A"/>
                </a:solidFill>
                <a:latin typeface="IPAGothic"/>
              </a:rPr>
              <a:t>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2834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IPAGothic"/>
              </a:rPr>
              <a:t>通過率 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4015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E3A5F"/>
                </a:solidFill>
                <a:latin typeface="IPAGothic"/>
              </a:rPr>
              <a:t>応募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3401568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9A227"/>
                </a:solidFill>
                <a:latin typeface="IPAGothic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4015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4A90D9"/>
                </a:solidFill>
                <a:latin typeface="IPAGothic"/>
              </a:rPr>
              <a:t>説明会兼
面談通過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401568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9A227"/>
                </a:solidFill>
                <a:latin typeface="IPAGothic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4015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  <a:latin typeface="IPAGothic"/>
              </a:rPr>
              <a:t>一次選考
通過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3401568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9A227"/>
                </a:solidFill>
                <a:latin typeface="IPAGothic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34015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7AE60"/>
                </a:solidFill>
                <a:latin typeface="IPAGothic"/>
              </a:rPr>
              <a:t>最終選考
通過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133087"/>
            <a:ext cx="1143000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133087"/>
            <a:ext cx="82296" cy="2423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25196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IPAGothic"/>
              </a:rPr>
              <a:t>■ 主要インサイト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72744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・ 上位校からの応募59名のうち、説明会兼面談通過は27名（通過率 46%）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・ 一次選考通過は11名（説明会兼面談通過比 41%）。半数近くが両選考間で離脱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586983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・ 最終選考通過（内定）は1名（全体の内定率 1.7%）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0167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IPAGothic"/>
              </a:rPr>
              <a:t>・ 辞退者28名（47.5%）が最大離脱要因 ─ 他社内定・優先が9名と最多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選考ファネル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応募〜最終選考通過までの人数推移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43000"/>
            <a:ext cx="1033272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選考ステータス内訳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上位校応募者59名の最終ステータス</a:t>
            </a:r>
          </a:p>
        </p:txBody>
      </p:sp>
      <p:pic>
        <p:nvPicPr>
          <p:cNvPr id="7" name="Picture 6" descr="statu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029200" cy="5029200"/>
          </a:xfrm>
          <a:prstGeom prst="rect">
            <a:avLst/>
          </a:prstGeom>
        </p:spPr>
      </p:pic>
      <p:pic>
        <p:nvPicPr>
          <p:cNvPr id="8" name="Picture 7" descr="status_by_uni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097280"/>
            <a:ext cx="667512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大学グループ別　応募者数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上位校59名の大学グループ別内訳</a:t>
            </a:r>
          </a:p>
        </p:txBody>
      </p:sp>
      <p:pic>
        <p:nvPicPr>
          <p:cNvPr id="7" name="Picture 6" descr="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996696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大学別　応募者数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上位校14大学の応募者数</a:t>
            </a:r>
          </a:p>
        </p:txBody>
      </p:sp>
      <p:pic>
        <p:nvPicPr>
          <p:cNvPr id="7" name="Picture 6" descr="univ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11430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辞退分析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　辞退者28名の理由内訳</a:t>
            </a:r>
          </a:p>
        </p:txBody>
      </p:sp>
      <p:pic>
        <p:nvPicPr>
          <p:cNvPr id="7" name="Picture 6" descr="withdraw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4846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80" y="6080760"/>
            <a:ext cx="10972800" cy="594360"/>
          </a:xfrm>
          <a:prstGeom prst="rect">
            <a:avLst/>
          </a:prstGeom>
          <a:solidFill>
            <a:srgbClr val="FFF8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6080760"/>
            <a:ext cx="64008" cy="594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6126480"/>
            <a:ext cx="106070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IPAGothic"/>
              </a:rPr>
              <a:t>※ 「理由未収集・不明」7名（25%）の解消に向け、辞退時の面談・アンケート実施を推奨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2188952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0058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考察・次のアクション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5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CD6E8"/>
                </a:solidFill>
                <a:latin typeface="IPAGothic"/>
              </a:rPr>
              <a:t>上位校採用強化に向けた施策提言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5760720" cy="8229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08175"/>
            <a:ext cx="530352" cy="5303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08175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44475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辞退防止策の強化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066543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辞退者28名（47.5%）が最大の離脱要因。特に他社内定・優先（9名）が最多。
選考スピード改善・オファー面談の設計見直しと、辞退理由の詳細収集体制を整備。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261872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261872"/>
            <a:ext cx="5760720" cy="8229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37960" y="1408175"/>
            <a:ext cx="530352" cy="53035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1408175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144475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説明会兼面談→一次選考の歩留まり向上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066543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説明会兼面談通過27名のうち一次選考通過は11名（41%）。
通過後のフォロー強化とエンゲージメント施策で通過率改善を目指す。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95344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895344"/>
            <a:ext cx="5760720" cy="8229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041648"/>
            <a:ext cx="530352" cy="5303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4164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407822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上位校母集団の拡大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700016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旧帝大・早慶からの応募が極めて少ない（計1名）。ダイレクトリクルーティング・
学内説明会・OB/OGネットワーク活用で接触機会を増やす。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895344"/>
            <a:ext cx="5760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3895344"/>
            <a:ext cx="5760720" cy="8229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37960" y="4041648"/>
            <a:ext cx="530352" cy="5303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4041648"/>
            <a:ext cx="53035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IPA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407822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IPAGothic"/>
              </a:rPr>
              <a:t>選考データの継続モニタリング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700016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IPAGothic"/>
              </a:rPr>
              <a:t>現在選考中23名のフォローを継続。通過率・辞退率を月次トラッキングし、
採用目標達成に向けた定量管理体制を構築する。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